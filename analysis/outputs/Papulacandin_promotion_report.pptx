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9CB4D8"/>
                </a:solidFill>
                <a:latin typeface="Calibri"/>
              </a:rPr>
              <a:t>PROMOTION REVIEW  ·  RESEARCH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Designing Serum-Tolerant Antifungal Candidates</a:t>
            </a:r>
          </a:p>
          <a:p>
            <a:pPr algn="l">
              <a:spcAft>
                <a:spcPts val="400"/>
              </a:spcAft>
            </a:pPr>
            <a:r>
              <a:rPr sz="2100" b="0">
                <a:solidFill>
                  <a:srgbClr val="1F8A8A"/>
                </a:solidFill>
                <a:latin typeface="Calibri"/>
              </a:rPr>
              <a:t>An AI- and Quantum-Chemistry–Guided Drug Discovery Program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C8D2DC"/>
                </a:solidFill>
                <a:latin typeface="Calibri"/>
              </a:rPr>
              <a:t>on the Papulacandin / Fusacandin class (β-1,3-glucan / FKS1 inhibitors)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8D2DC"/>
                </a:solidFill>
                <a:latin typeface="Calibri"/>
              </a:rPr>
              <a:t>Presenter:  ______________________          Date:  ____________</a:t>
            </a:r>
          </a:p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9CB4D8"/>
                </a:solidFill>
                <a:latin typeface="Calibri"/>
              </a:rPr>
              <a:t>A complete, reproducible pipeline — from scattered literature to a ready-to-test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BACKGROUND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Invasive fungal infections: an urgent, under-served threat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538728" cy="150876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28016" cy="1508760"/>
          </a:xfrm>
          <a:prstGeom prst="roundRect">
            <a:avLst/>
          </a:prstGeom>
          <a:solidFill>
            <a:srgbClr val="D8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29384"/>
            <a:ext cx="3081528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233A"/>
                </a:solidFill>
                <a:latin typeface="Calibri"/>
              </a:rPr>
              <a:t>Rising incidence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hundreds of thousands of deaths /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691640"/>
            <a:ext cx="3538728" cy="150876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691640"/>
            <a:ext cx="128016" cy="1508760"/>
          </a:xfrm>
          <a:prstGeom prst="roundRect">
            <a:avLst/>
          </a:prstGeom>
          <a:solidFill>
            <a:srgbClr val="D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1929384"/>
            <a:ext cx="3081528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233A"/>
                </a:solidFill>
                <a:latin typeface="Calibri"/>
              </a:rPr>
              <a:t>Very few drug classes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limited options, serious side effects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691640"/>
            <a:ext cx="3538728" cy="150876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8744" y="1691640"/>
            <a:ext cx="128016" cy="1508760"/>
          </a:xfrm>
          <a:prstGeom prst="round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1929384"/>
            <a:ext cx="3081528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233A"/>
                </a:solidFill>
                <a:latin typeface="Calibri"/>
              </a:rPr>
              <a:t>Resistance spreading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existing drugs losing ground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10820095" cy="214884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40480"/>
            <a:ext cx="10088575" cy="1783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F56A6"/>
                </a:solidFill>
                <a:latin typeface="Calibri"/>
              </a:rPr>
              <a:t>The opportunity — and the catch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The </a:t>
            </a:r>
            <a:r>
              <a:rPr sz="1500" b="1">
                <a:solidFill>
                  <a:srgbClr val="14233A"/>
                </a:solidFill>
                <a:latin typeface="Calibri"/>
              </a:rPr>
              <a:t>papulacandin</a:t>
            </a:r>
            <a:r>
              <a:rPr sz="1500" b="0">
                <a:solidFill>
                  <a:srgbClr val="14233A"/>
                </a:solidFill>
                <a:latin typeface="Calibri"/>
              </a:rPr>
              <a:t> natural products block the enzyme that builds the fungal cell wall (β-1,3-glucan synthase / FKS1). Humans have no cell wall → an attractive, low-toxicity target.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84A3C"/>
                </a:solidFill>
                <a:latin typeface="Calibri"/>
              </a:rPr>
              <a:t>❗  The catch: potent in a test tube, but </a:t>
            </a:r>
            <a:r>
              <a:rPr sz="1500" b="1">
                <a:solidFill>
                  <a:srgbClr val="D84A3C"/>
                </a:solidFill>
                <a:latin typeface="Calibri"/>
              </a:rPr>
              <a:t>activity is lost in blood serum</a:t>
            </a:r>
            <a:r>
              <a:rPr sz="1500" b="0">
                <a:solidFill>
                  <a:srgbClr val="D84A3C"/>
                </a:solidFill>
                <a:latin typeface="Calibri"/>
              </a:rPr>
              <a:t> — so they never became drugs.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33A"/>
                </a:solidFill>
                <a:latin typeface="Calibri"/>
              </a:rPr>
              <a:t>If we understand and fix that, we revive an entire drug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THE SCIENTIFIC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The serum gap, quantified: blood switches most analogs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fig_serum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811" y="1463040"/>
            <a:ext cx="6894072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806440"/>
            <a:ext cx="10820095" cy="82296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61304"/>
            <a:ext cx="10088575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“serum shift”  =  dose needed in serum  ÷  dose needed in broth</a:t>
            </a:r>
            <a:r>
              <a:rPr sz="1400" b="0">
                <a:solidFill>
                  <a:srgbClr val="C8D2DC"/>
                </a:solidFill>
                <a:latin typeface="Calibri"/>
              </a:rPr>
              <a:t>      — the one number we set out to lower.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A 14-stage funnel: start broad and cheap, narrow to confident designs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73" y="1463040"/>
            <a:ext cx="10022948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806440"/>
            <a:ext cx="10820095" cy="82296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61304"/>
            <a:ext cx="10088575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Each stage checks our reasoning before the next — and the whole platform is reusable.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METHODS · THE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The staged quantum-chemistry funnel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fig_qm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18" y="1417320"/>
            <a:ext cx="5826843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86600" y="1828800"/>
            <a:ext cx="448056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F56A6"/>
                </a:solidFill>
                <a:latin typeface="Calibri"/>
              </a:rPr>
              <a:t>How it works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①  AI invents novel molecules.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②  Cheap filters remove the obvious losers.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③  Accurate quantum chemistry computes the real 3-D shapes — and re-checks the cheap results.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4233A"/>
                </a:solidFill>
                <a:latin typeface="Calibri"/>
              </a:rPr>
              <a:t>④  The costliest method (DFT) touches only the few survivors.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423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8A8A"/>
                </a:solidFill>
                <a:latin typeface="Calibri"/>
              </a:rPr>
              <a:t>Same measurement engine at every tier → a fair, honest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KEY METHODOLOGICAL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The “honesty ladder”: more rigor shrank the easy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fig_honesty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530" y="1417320"/>
            <a:ext cx="6444633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806440"/>
            <a:ext cx="10820095" cy="82296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61304"/>
            <a:ext cx="10088575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 less careful analysis would have made a confident — and WRONG — claim at every rung. </a:t>
            </a:r>
            <a:r>
              <a:rPr sz="1400" b="0">
                <a:solidFill>
                  <a:srgbClr val="C8D2DC"/>
                </a:solidFill>
                <a:latin typeface="Calibri"/>
              </a:rPr>
              <a:t>Knowing what is NOT true is a real, durable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LEARNING FROM APPROVED DRUGS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Echinocandins: same target, real clinical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fig_echinocan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9448"/>
            <a:ext cx="6309360" cy="42049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60" y="1783080"/>
            <a:ext cx="4343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56A6"/>
                </a:solidFill>
                <a:latin typeface="Calibri"/>
              </a:rPr>
              <a:t>Two lessons that redirected our design: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514600"/>
            <a:ext cx="4343400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2514600"/>
            <a:ext cx="109728" cy="1371600"/>
          </a:xfrm>
          <a:prstGeom prst="roundRect">
            <a:avLst/>
          </a:prstGeom>
          <a:solidFill>
            <a:srgbClr val="D84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2651760"/>
            <a:ext cx="393192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1.  The tail is REQUIRED for potency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can’t just make it water-friendly or cut it off, or the drug stops working.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069080"/>
            <a:ext cx="4343400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0" y="4069080"/>
            <a:ext cx="109728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4206240"/>
            <a:ext cx="393192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2.  SHAPE matters more than greasiness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flexible tail = less serum loss. Our native tail is rigid &amp; flat → the ‘bad’ zone.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AI-GUIDED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We built an AI generator — and validated its scoring on real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phase12_reward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75" y="1508760"/>
            <a:ext cx="5844208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828800"/>
            <a:ext cx="457200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F56A6"/>
                </a:solidFill>
                <a:latin typeface="Calibri"/>
              </a:rPr>
              <a:t>The AI, done honestly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4233A"/>
                </a:solidFill>
                <a:latin typeface="Calibri"/>
              </a:rPr>
              <a:t>•  An AI generator invents novel, on-scaffold molecules.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4233A"/>
                </a:solidFill>
                <a:latin typeface="Calibri"/>
              </a:rPr>
              <a:t>•  Its ‘good design’ reward was </a:t>
            </a:r>
            <a:r>
              <a:rPr sz="1450" b="1">
                <a:solidFill>
                  <a:srgbClr val="14233A"/>
                </a:solidFill>
                <a:latin typeface="Calibri"/>
              </a:rPr>
              <a:t>checked against real measured data</a:t>
            </a:r>
            <a:r>
              <a:rPr sz="1450" b="0">
                <a:solidFill>
                  <a:srgbClr val="14233A"/>
                </a:solidFill>
                <a:latin typeface="Calibri"/>
              </a:rPr>
              <a:t> (left) before we trusted it.</a:t>
            </a:r>
          </a:p>
          <a:p>
            <a:pPr algn="l">
              <a:spcAft>
                <a:spcPts val="400"/>
              </a:spcAft>
            </a:pPr>
            <a:r>
              <a:rPr sz="1450" b="0">
                <a:solidFill>
                  <a:srgbClr val="14233A"/>
                </a:solidFill>
                <a:latin typeface="Calibri"/>
              </a:rPr>
              <a:t>•  It is built to produce a </a:t>
            </a:r>
            <a:r>
              <a:rPr sz="1450" b="1">
                <a:solidFill>
                  <a:srgbClr val="1F8A8A"/>
                </a:solidFill>
                <a:latin typeface="Calibri"/>
              </a:rPr>
              <a:t>discriminating series</a:t>
            </a:r>
            <a:r>
              <a:rPr sz="1450" b="0">
                <a:solidFill>
                  <a:srgbClr val="14233A"/>
                </a:solidFill>
                <a:latin typeface="Calibri"/>
              </a:rPr>
              <a:t> — molecules that TEST the idea, not just assume it.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14233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Left: the reward tracks true serum tolerance on the 24 known compounds (a weak-but-real trend, honestly reported).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RESULT · ROUND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The quantum funnel caught a false positive before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fig_roun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676" y="1463040"/>
            <a:ext cx="7230341" cy="4160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5806440"/>
            <a:ext cx="10820095" cy="82296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61304"/>
            <a:ext cx="10088575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accurate method exposed the cheap method’s ‘winner’ as an artifact — </a:t>
            </a:r>
            <a:r>
              <a:rPr sz="1400" b="0">
                <a:solidFill>
                  <a:srgbClr val="C8D2DC"/>
                </a:solidFill>
                <a:latin typeface="Calibri"/>
              </a:rPr>
              <a:t>caught before any lab time was spent.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THE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A ranked, easy-to-make shortlist — redirected by the drug lesson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fig_tail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39423"/>
            <a:ext cx="6400800" cy="3162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9480" y="1691640"/>
            <a:ext cx="4297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56A6"/>
                </a:solidFill>
                <a:latin typeface="Calibri"/>
              </a:rPr>
              <a:t>Make first (best bet):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2286000"/>
            <a:ext cx="4297680" cy="658368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2331720"/>
            <a:ext cx="3931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33A"/>
                </a:solidFill>
                <a:latin typeface="Calibri"/>
              </a:rPr>
              <a:t>Palmitoyl (saturated)</a:t>
            </a:r>
            <a:r>
              <a:rPr sz="1250" b="0">
                <a:solidFill>
                  <a:srgbClr val="5B6472"/>
                </a:solidFill>
                <a:latin typeface="Calibri"/>
              </a:rPr>
              <a:t>   ·  cleanest single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3035808"/>
            <a:ext cx="4297680" cy="658368"/>
          </a:xfrm>
          <a:prstGeom prst="roundRect">
            <a:avLst/>
          </a:prstGeom>
          <a:solidFill>
            <a:srgbClr val="E7F4EA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081528"/>
            <a:ext cx="3931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33A"/>
                </a:solidFill>
                <a:latin typeface="Calibri"/>
              </a:rPr>
              <a:t>Branched saturated</a:t>
            </a:r>
            <a:r>
              <a:rPr sz="1250" b="0">
                <a:solidFill>
                  <a:srgbClr val="5B6472"/>
                </a:solidFill>
                <a:latin typeface="Calibri"/>
              </a:rPr>
              <a:t>   ·  caspofungin-like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85616"/>
            <a:ext cx="4297680" cy="658368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3831336"/>
            <a:ext cx="39319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233A"/>
                </a:solidFill>
                <a:latin typeface="Calibri"/>
              </a:rPr>
              <a:t>One-kink control</a:t>
            </a:r>
            <a:r>
              <a:rPr sz="1250" b="0">
                <a:solidFill>
                  <a:srgbClr val="5B6472"/>
                </a:solidFill>
                <a:latin typeface="Calibri"/>
              </a:rPr>
              <a:t>   ·  make 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806440"/>
            <a:ext cx="10820095" cy="82296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61304"/>
            <a:ext cx="10088575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8A8A"/>
                </a:solidFill>
                <a:latin typeface="Calibri"/>
              </a:rPr>
              <a:t>Happy coincidence:  </a:t>
            </a:r>
            <a:r>
              <a:rPr sz="1500" b="1">
                <a:solidFill>
                  <a:srgbClr val="FFFFFF"/>
                </a:solidFill>
                <a:latin typeface="Calibri"/>
              </a:rPr>
              <a:t>these are also the EASIEST to synthesize</a:t>
            </a:r>
            <a:r>
              <a:rPr sz="1400" b="0">
                <a:solidFill>
                  <a:srgbClr val="C8D2DC"/>
                </a:solidFill>
                <a:latin typeface="Calibri"/>
              </a:rPr>
              <a:t> — cheap fatty acids, one step. Best science = cheapest chemistry.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What this program delivered — a reusable platform, not a one-off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📊  Benchmark dataset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138 compounds, 1,042 records,
full provenance — a field resource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737360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8698" y="1737360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938528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🔬  Validated QM method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multi-tier quantum pipeline +
in-house 3-D surface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1737360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596" y="1737360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196" y="1938528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🤖  AI molecule generator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novel-structure design with a
reward checked against real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13047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13047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5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💊  Cross-drug read-across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clinical echinocandin evidence
imported into the design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3813047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8698" y="3813047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7298" y="4014215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⚙️  Reproducible engineering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14 documented stages, automated
tests, cluster run protocols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1596" y="3813047"/>
            <a:ext cx="3454298" cy="1874519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3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1596" y="3813047"/>
            <a:ext cx="3454298" cy="50800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196" y="4014215"/>
            <a:ext cx="2997098" cy="15087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233A"/>
                </a:solidFill>
                <a:latin typeface="Calibri"/>
              </a:rPr>
              <a:t>🗺️  Roadmap + shortlist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472"/>
                </a:solidFill>
                <a:latin typeface="Calibri"/>
              </a:rPr>
              <a:t>the exact experiment that
unlocks predictive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THE KEY LESSON &amp; 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Where AI helps — and the loop that gets us there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820095" cy="137160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088575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F56A6"/>
                </a:solidFill>
                <a:latin typeface="Calibri"/>
              </a:rPr>
              <a:t>This is NOT “AI failed.”  </a:t>
            </a:r>
            <a:r>
              <a:rPr sz="1500" b="0">
                <a:solidFill>
                  <a:srgbClr val="14233A"/>
                </a:solidFill>
                <a:latin typeface="Calibri"/>
              </a:rPr>
              <a:t>It is a precise statement of the critical path: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4233A"/>
                </a:solidFill>
                <a:latin typeface="Calibri"/>
              </a:rPr>
              <a:t>AI drug design needs a measured ‘answer key’. Physics-based guesses alone were shown — rigorously — to mislead.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2E8B57"/>
                </a:solidFill>
                <a:latin typeface="Calibri"/>
              </a:rPr>
              <a:t>We now know exactly which few experiments unlock the AI — and the AI is already built to use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49039"/>
            <a:ext cx="2327833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2F5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749039"/>
            <a:ext cx="109728" cy="1371600"/>
          </a:xfrm>
          <a:prstGeom prst="round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749039"/>
            <a:ext cx="1962073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33A"/>
                </a:solidFill>
                <a:latin typeface="Calibri"/>
              </a:rPr>
              <a:t>1.  Synthesize the
4-molecule shortlist</a:t>
            </a:r>
          </a:p>
        </p:txBody>
      </p:sp>
      <p:sp>
        <p:nvSpPr>
          <p:cNvPr id="13" name="Chevron 12"/>
          <p:cNvSpPr/>
          <p:nvPr/>
        </p:nvSpPr>
        <p:spPr>
          <a:xfrm>
            <a:off x="3123361" y="4251959"/>
            <a:ext cx="274320" cy="365760"/>
          </a:xfrm>
          <a:prstGeom prst="chevron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16553" y="3749039"/>
            <a:ext cx="2327833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D8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16553" y="3749039"/>
            <a:ext cx="109728" cy="1371600"/>
          </a:xfrm>
          <a:prstGeom prst="roundRect">
            <a:avLst/>
          </a:prstGeom>
          <a:solidFill>
            <a:srgbClr val="D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2585" y="3749039"/>
            <a:ext cx="1962073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33A"/>
                </a:solidFill>
                <a:latin typeface="Calibri"/>
              </a:rPr>
              <a:t>2.  Measure serum shift
+ protein binding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5954115" y="4251959"/>
            <a:ext cx="274320" cy="365760"/>
          </a:xfrm>
          <a:prstGeom prst="chevron">
            <a:avLst/>
          </a:prstGeom>
          <a:solidFill>
            <a:srgbClr val="D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7307" y="3749039"/>
            <a:ext cx="2327833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47307" y="3749039"/>
            <a:ext cx="109728" cy="13716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3339" y="3749039"/>
            <a:ext cx="1962073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33A"/>
                </a:solidFill>
                <a:latin typeface="Calibri"/>
              </a:rPr>
              <a:t>3.  Train the AI
on the results</a:t>
            </a:r>
          </a:p>
        </p:txBody>
      </p:sp>
      <p:sp>
        <p:nvSpPr>
          <p:cNvPr id="21" name="Chevron 20"/>
          <p:cNvSpPr/>
          <p:nvPr/>
        </p:nvSpPr>
        <p:spPr>
          <a:xfrm>
            <a:off x="8784869" y="4251959"/>
            <a:ext cx="274320" cy="36576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78061" y="3749039"/>
            <a:ext cx="2327833" cy="1371600"/>
          </a:xfrm>
          <a:prstGeom prst="roundRect">
            <a:avLst/>
          </a:prstGeom>
          <a:solidFill>
            <a:srgbClr val="F2F5F9"/>
          </a:solidFill>
          <a:ln w="12700">
            <a:solidFill>
              <a:srgbClr val="1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8061" y="3749039"/>
            <a:ext cx="109728" cy="1371600"/>
          </a:xfrm>
          <a:prstGeom prst="round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4093" y="3749039"/>
            <a:ext cx="1962073" cy="13716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233A"/>
                </a:solidFill>
                <a:latin typeface="Calibri"/>
              </a:rPr>
              <a:t>4.  AI designs
round 2 (wider)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082009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F8A8A"/>
                </a:solidFill>
                <a:latin typeface="Calibri"/>
              </a:rPr>
              <a:t>↻  A virtuous loop: each round of data makes the AI a better designer.  </a:t>
            </a:r>
            <a:r>
              <a:rPr sz="1350" b="0">
                <a:solidFill>
                  <a:srgbClr val="5B6472"/>
                </a:solidFill>
                <a:latin typeface="Calibri"/>
              </a:rPr>
              <a:t>The immediate next step needs no more computing.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F56A6"/>
                </a:solidFill>
                <a:latin typeface="Calibri"/>
              </a:rPr>
              <a:t>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1082009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233A"/>
                </a:solidFill>
                <a:latin typeface="Calibri"/>
              </a:rPr>
              <a:t>Why this matters — and the one-line takeaway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16736"/>
            <a:ext cx="1463040" cy="38100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746504"/>
            <a:ext cx="146304" cy="146304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045433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Revived a stalled, high-value drug class as a tractable design problem  </a:t>
            </a:r>
            <a:r>
              <a:rPr sz="1300" b="0" i="1">
                <a:solidFill>
                  <a:srgbClr val="5B6472"/>
                </a:solidFill>
                <a:latin typeface="Calibri"/>
              </a:rPr>
              <a:t>— urgent unmet clinical need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313432"/>
            <a:ext cx="146304" cy="146304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1045433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Built an end-to-end AI + quantum-chemistry discovery platform  </a:t>
            </a:r>
            <a:r>
              <a:rPr sz="1300" b="0" i="1">
                <a:solidFill>
                  <a:srgbClr val="5B6472"/>
                </a:solidFill>
                <a:latin typeface="Calibri"/>
              </a:rPr>
              <a:t>— reusable across programs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880360"/>
            <a:ext cx="146304" cy="146304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25496"/>
            <a:ext cx="1045433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Demonstrated rigorous self-correction (the ‘honesty ladder’)  </a:t>
            </a:r>
            <a:r>
              <a:rPr sz="1300" b="0" i="1">
                <a:solidFill>
                  <a:srgbClr val="5B6472"/>
                </a:solidFill>
                <a:latin typeface="Calibri"/>
              </a:rPr>
              <a:t>— trustworthy, independent science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447288"/>
            <a:ext cx="146304" cy="146304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1045433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Integrated chemistry + machine learning + quantum physics + pharmacology  </a:t>
            </a:r>
            <a:r>
              <a:rPr sz="1300" b="0" i="1">
                <a:solidFill>
                  <a:srgbClr val="5B6472"/>
                </a:solidFill>
                <a:latin typeface="Calibri"/>
              </a:rPr>
              <a:t>— genuinely interdisciplinary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14216"/>
            <a:ext cx="146304" cy="146304"/>
          </a:xfrm>
          <a:prstGeom prst="ellipse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59352"/>
            <a:ext cx="1045433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4233A"/>
                </a:solidFill>
                <a:latin typeface="Calibri"/>
              </a:rPr>
              <a:t>Defined the exact experiment that unlocks predictive AI  </a:t>
            </a:r>
            <a:r>
              <a:rPr sz="1300" b="0" i="1">
                <a:solidFill>
                  <a:srgbClr val="5B6472"/>
                </a:solidFill>
                <a:latin typeface="Calibri"/>
              </a:rPr>
              <a:t>— de-risks future investment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54880"/>
            <a:ext cx="10820095" cy="1371600"/>
          </a:xfrm>
          <a:prstGeom prst="roundRect">
            <a:avLst/>
          </a:prstGeom>
          <a:solidFill>
            <a:srgbClr val="14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9997135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Calibri"/>
              </a:rPr>
              <a:t>“We set out to teach a computer to design a serum-tolerant antifungal. We built the platform, curated the data, imported lessons from approved drugs, and — most importantly — learned to tell a real signal from a flattering illusion.</a:t>
            </a:r>
          </a:p>
          <a:p>
            <a:pPr algn="l">
              <a:spcAft>
                <a:spcPts val="400"/>
              </a:spcAft>
            </a:pPr>
            <a:r>
              <a:rPr sz="1400" b="1" i="1">
                <a:solidFill>
                  <a:srgbClr val="1F8A8A"/>
                </a:solidFill>
                <a:latin typeface="Calibri"/>
              </a:rPr>
              <a:t>The computer is ready; it awaits one clean experiment, designed down to the exact four molecules.”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8A8A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9CB4D8"/>
                </a:solidFill>
                <a:latin typeface="Calibri"/>
              </a:rPr>
              <a:t>Full technical detail, code, and reproducible reports: project repository (Phases 1–14).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