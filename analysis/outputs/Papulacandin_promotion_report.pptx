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9CB4D8"/>
                </a:solidFill>
                <a:latin typeface="Calibri"/>
              </a:rPr>
              <a:t>PROMOTION REVIEW  ·  RESEARCH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2194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Designing Serum-Tolerant Antifungal Candidates</a:t>
            </a:r>
          </a:p>
          <a:p>
            <a:pPr algn="l">
              <a:spcAft>
                <a:spcPts val="400"/>
              </a:spcAft>
            </a:pPr>
            <a:r>
              <a:rPr sz="2100" b="0">
                <a:solidFill>
                  <a:srgbClr val="1F8A8A"/>
                </a:solidFill>
                <a:latin typeface="Calibri"/>
              </a:rPr>
              <a:t>An AI- and Quantum-Chemistry–Guided Drug Discovery Program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C8D2DC"/>
                </a:solidFill>
                <a:latin typeface="Calibri"/>
              </a:rPr>
              <a:t>on the Papulacandin / Fusacandin class (β-1,3-glucan / FKS1 inhibitors)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8D2DC"/>
                </a:solidFill>
                <a:latin typeface="Calibri"/>
              </a:rPr>
              <a:t>Presenter:  ______________________          Date:  ____________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9CB4D8"/>
                </a:solidFill>
                <a:latin typeface="Calibri"/>
              </a:rPr>
              <a:t>A complete, reproducible pipeline — from scattered literature to a ready-to-test design.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2009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33A"/>
                </a:solidFill>
                <a:latin typeface="Calibri"/>
              </a:rPr>
              <a:t>Invasive fungal infections: an urgent, under-served threat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38251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566160" cy="155448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128016" cy="1554480"/>
          </a:xfrm>
          <a:prstGeom prst="roundRect">
            <a:avLst/>
          </a:prstGeom>
          <a:solidFill>
            <a:srgbClr val="D8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93392"/>
            <a:ext cx="310896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233A"/>
                </a:solidFill>
                <a:latin typeface="Calibri"/>
              </a:rPr>
              <a:t>Rising incidence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hundreds of thousands of deaths / year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737360"/>
            <a:ext cx="3566160" cy="155448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0" y="1737360"/>
            <a:ext cx="128016" cy="1554480"/>
          </a:xfrm>
          <a:prstGeom prst="roundRect">
            <a:avLst/>
          </a:prstGeom>
          <a:solidFill>
            <a:srgbClr val="D8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993392"/>
            <a:ext cx="310896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233A"/>
                </a:solidFill>
                <a:latin typeface="Calibri"/>
              </a:rPr>
              <a:t>Very few drug classes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limited options, serious side effects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737360"/>
            <a:ext cx="3566160" cy="155448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75320" y="1737360"/>
            <a:ext cx="128016" cy="1554480"/>
          </a:xfrm>
          <a:prstGeom prst="round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993392"/>
            <a:ext cx="310896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233A"/>
                </a:solidFill>
                <a:latin typeface="Calibri"/>
              </a:rPr>
              <a:t>Resistance spreading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472"/>
                </a:solidFill>
                <a:latin typeface="Calibri"/>
              </a:rPr>
              <a:t>existing drugs losing ground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57600"/>
            <a:ext cx="10820095" cy="219456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10088575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F56A6"/>
                </a:solidFill>
                <a:latin typeface="Calibri"/>
              </a:rPr>
              <a:t>The opportunity — and the catch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4233A"/>
                </a:solidFill>
                <a:latin typeface="Calibri"/>
              </a:rPr>
              <a:t>The </a:t>
            </a:r>
            <a:r>
              <a:rPr sz="1500" b="1">
                <a:solidFill>
                  <a:srgbClr val="14233A"/>
                </a:solidFill>
                <a:latin typeface="Calibri"/>
              </a:rPr>
              <a:t>papulacandin</a:t>
            </a:r>
            <a:r>
              <a:rPr sz="1500" b="0">
                <a:solidFill>
                  <a:srgbClr val="14233A"/>
                </a:solidFill>
                <a:latin typeface="Calibri"/>
              </a:rPr>
              <a:t> natural products block the enzyme that builds the fungal cell wall (β-1,3-glucan synthase / FKS1). Humans have no cell wall → an attractive, low-toxicity target.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D84A3C"/>
                </a:solidFill>
                <a:latin typeface="Calibri"/>
              </a:rPr>
              <a:t>❗  The catch: these molecules are potent in a test tube but </a:t>
            </a:r>
            <a:r>
              <a:rPr sz="1500" b="1">
                <a:solidFill>
                  <a:srgbClr val="D84A3C"/>
                </a:solidFill>
                <a:latin typeface="Calibri"/>
              </a:rPr>
              <a:t>lose activity in blood serum</a:t>
            </a:r>
            <a:r>
              <a:rPr sz="1500" b="0">
                <a:solidFill>
                  <a:srgbClr val="D84A3C"/>
                </a:solidFill>
                <a:latin typeface="Calibri"/>
              </a:rPr>
              <a:t> — so they never became drugs.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4233A"/>
                </a:solidFill>
                <a:latin typeface="Calibri"/>
              </a:rPr>
              <a:t>If we understand and fix that, we revive an entire drug class.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2009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THE SCIENTIFIC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33A"/>
                </a:solidFill>
                <a:latin typeface="Calibri"/>
              </a:rPr>
              <a:t>Why does blood switch the drug off — and can we design around it?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38251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5212080" cy="2286000"/>
          </a:xfrm>
          <a:prstGeom prst="roundRect">
            <a:avLst/>
          </a:prstGeom>
          <a:solidFill>
            <a:srgbClr val="E7F4EA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663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🧪  In clean broth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4233A"/>
                </a:solidFill>
                <a:latin typeface="Calibri"/>
              </a:rPr>
              <a:t>Drug + fungus  →  fungus dies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5B6472"/>
                </a:solidFill>
                <a:latin typeface="Calibri"/>
              </a:rPr>
              <a:t>Potent. Low dose 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37360"/>
            <a:ext cx="5349240" cy="2286000"/>
          </a:xfrm>
          <a:prstGeom prst="roundRect">
            <a:avLst/>
          </a:prstGeom>
          <a:solidFill>
            <a:srgbClr val="FBE8E6"/>
          </a:solidFill>
          <a:ln w="12700">
            <a:solidFill>
              <a:srgbClr val="D84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0"/>
            <a:ext cx="47548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84A3C"/>
                </a:solidFill>
                <a:latin typeface="Calibri"/>
              </a:rPr>
              <a:t>🩸  In blood serum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4233A"/>
                </a:solidFill>
                <a:latin typeface="Calibri"/>
              </a:rPr>
              <a:t>Same drug + fungus  →  fungus survives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5B6472"/>
                </a:solidFill>
                <a:latin typeface="Calibri"/>
              </a:rPr>
              <a:t>Activity lost. The clinical failure mode.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97680"/>
            <a:ext cx="10820095" cy="173736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526280"/>
            <a:ext cx="9997135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We defined ONE number to explain and to design against — the </a:t>
            </a:r>
            <a:r>
              <a:rPr sz="1600" b="1">
                <a:solidFill>
                  <a:srgbClr val="1F8A8A"/>
                </a:solidFill>
                <a:latin typeface="Calibri"/>
              </a:rPr>
              <a:t>serum shift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serum shift  =  (dose needed in serum)  ÷  (dose needed in broth)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8D2DC"/>
                </a:solidFill>
                <a:latin typeface="Calibri"/>
              </a:rPr>
              <a:t>shift ≈ 1  →  serum has no effect (ideal)      large shift  →  serum wrecks the drug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8A8A"/>
                </a:solidFill>
                <a:latin typeface="Calibri"/>
              </a:rPr>
              <a:t>Goal: lower the serum shift without losing potency.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2009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33A"/>
                </a:solidFill>
                <a:latin typeface="Calibri"/>
              </a:rPr>
              <a:t>A staged funnel: start broad and cheap, narrow to high-confidence designs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38251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2567863" cy="265176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011680"/>
            <a:ext cx="2567863" cy="457200"/>
          </a:xfrm>
          <a:prstGeom prst="round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48256"/>
            <a:ext cx="2567863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ACT 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578608"/>
            <a:ext cx="2238679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Data &amp; first clues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Curate literature → 2-D patterns
&amp; interpretable design rules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2F56A6"/>
                </a:solidFill>
                <a:latin typeface="Calibri"/>
              </a:rPr>
              <a:t>Phases 1–4</a:t>
            </a:r>
          </a:p>
        </p:txBody>
      </p:sp>
      <p:sp>
        <p:nvSpPr>
          <p:cNvPr id="12" name="Chevron 11"/>
          <p:cNvSpPr/>
          <p:nvPr/>
        </p:nvSpPr>
        <p:spPr>
          <a:xfrm>
            <a:off x="3235375" y="3154680"/>
            <a:ext cx="219456" cy="310896"/>
          </a:xfrm>
          <a:prstGeom prst="chevron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36543" y="2011680"/>
            <a:ext cx="2567863" cy="265176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6543" y="2011680"/>
            <a:ext cx="2567863" cy="457200"/>
          </a:xfrm>
          <a:prstGeom prst="round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6543" y="2048256"/>
            <a:ext cx="2567863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ACT 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1135" y="2578608"/>
            <a:ext cx="2238679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Go 3-D (quantum)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AI generates molecules;
full 3-D shape &amp; electronics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F8A8A"/>
                </a:solidFill>
                <a:latin typeface="Calibri"/>
              </a:rPr>
              <a:t>Phases 5–9</a:t>
            </a:r>
          </a:p>
        </p:txBody>
      </p:sp>
      <p:sp>
        <p:nvSpPr>
          <p:cNvPr id="17" name="Chevron 16"/>
          <p:cNvSpPr/>
          <p:nvPr/>
        </p:nvSpPr>
        <p:spPr>
          <a:xfrm>
            <a:off x="5986119" y="3154680"/>
            <a:ext cx="219456" cy="310896"/>
          </a:xfrm>
          <a:prstGeom prst="chevron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7287" y="2011680"/>
            <a:ext cx="2567863" cy="265176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2011680"/>
            <a:ext cx="2567863" cy="457200"/>
          </a:xfrm>
          <a:prstGeom prst="roundRect">
            <a:avLst/>
          </a:prstGeom>
          <a:solidFill>
            <a:srgbClr val="D8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048256"/>
            <a:ext cx="2567863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ACT III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1879" y="2578608"/>
            <a:ext cx="2238679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Learn from drugs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Test 'albumin sponge';
borrow echinocandin lessons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D88A2B"/>
                </a:solidFill>
                <a:latin typeface="Calibri"/>
              </a:rPr>
              <a:t>Phases 10–11</a:t>
            </a:r>
          </a:p>
        </p:txBody>
      </p:sp>
      <p:sp>
        <p:nvSpPr>
          <p:cNvPr id="22" name="Chevron 21"/>
          <p:cNvSpPr/>
          <p:nvPr/>
        </p:nvSpPr>
        <p:spPr>
          <a:xfrm>
            <a:off x="8736863" y="3154680"/>
            <a:ext cx="219456" cy="310896"/>
          </a:xfrm>
          <a:prstGeom prst="chevron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38031" y="2011680"/>
            <a:ext cx="2567863" cy="265176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38031" y="2011680"/>
            <a:ext cx="2567863" cy="4572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8031" y="2048256"/>
            <a:ext cx="2567863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ACT IV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2623" y="2578608"/>
            <a:ext cx="2238679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AI design + test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AI designs candidates;
quantum funnel filters them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2E8B57"/>
                </a:solidFill>
                <a:latin typeface="Calibri"/>
              </a:rPr>
              <a:t>Phases 12–14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029200"/>
            <a:ext cx="10820095" cy="9144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138928"/>
            <a:ext cx="10088575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F56A6"/>
                </a:solidFill>
                <a:latin typeface="Calibri"/>
              </a:rPr>
              <a:t>Outcome:  </a:t>
            </a:r>
            <a:r>
              <a:rPr sz="1500" b="0">
                <a:solidFill>
                  <a:srgbClr val="14233A"/>
                </a:solidFill>
                <a:latin typeface="Calibri"/>
              </a:rPr>
              <a:t>a ranked, synthesizable shortlist + a precise experimental roadmap — and a reusable platform for future questions.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2009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THE INTELLECTUAL BACKBONE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33A"/>
                </a:solidFill>
                <a:latin typeface="Calibri"/>
              </a:rPr>
              <a:t>The “honesty ladder”: more rigor → the easy signal shrank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38251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1082009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472"/>
                </a:solidFill>
                <a:latin typeface="Calibri"/>
              </a:rPr>
              <a:t>At every step we used a more rigorous method — and reported what was actually there, not the flattering early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33A"/>
                </a:solidFill>
                <a:latin typeface="Calibri"/>
              </a:rPr>
              <a:t>2-D chemistry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240280"/>
            <a:ext cx="3977639" cy="310896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240280"/>
            <a:ext cx="1193291" cy="310896"/>
          </a:xfrm>
          <a:prstGeom prst="roundRect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7" y="2148840"/>
            <a:ext cx="2514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472"/>
                </a:solidFill>
                <a:latin typeface="Calibri"/>
              </a:rPr>
              <a:t>weak — promising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715768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33A"/>
                </a:solidFill>
                <a:latin typeface="Calibri"/>
              </a:rPr>
              <a:t>Cheap 3-D (approximate)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807208"/>
            <a:ext cx="3977639" cy="310896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7680" y="2807208"/>
            <a:ext cx="2466136" cy="310896"/>
          </a:xfrm>
          <a:prstGeom prst="roundRect">
            <a:avLst/>
          </a:prstGeom>
          <a:solidFill>
            <a:srgbClr val="D8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7" y="2715768"/>
            <a:ext cx="2514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D88A2B"/>
                </a:solidFill>
                <a:latin typeface="Calibri"/>
              </a:rPr>
              <a:t>looks strong — TEMPTING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82696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33A"/>
                </a:solidFill>
                <a:latin typeface="Calibri"/>
              </a:rPr>
              <a:t>Accurate quantum (real 3-D shapes)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374136"/>
            <a:ext cx="3977639" cy="310896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97680" y="3374136"/>
            <a:ext cx="1193291" cy="310896"/>
          </a:xfrm>
          <a:prstGeom prst="round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3282696"/>
            <a:ext cx="2514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2F56A6"/>
                </a:solidFill>
                <a:latin typeface="Calibri"/>
              </a:rPr>
              <a:t>shrinks — corrected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849624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33A"/>
                </a:solidFill>
                <a:latin typeface="Calibri"/>
              </a:rPr>
              <a:t>…controlling for plain potency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941064"/>
            <a:ext cx="3977639" cy="310896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3941064"/>
            <a:ext cx="238658" cy="310896"/>
          </a:xfrm>
          <a:prstGeom prst="roundRect">
            <a:avLst/>
          </a:prstGeom>
          <a:solidFill>
            <a:srgbClr val="D8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5047" y="3849624"/>
            <a:ext cx="2514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D84A3C"/>
                </a:solidFill>
                <a:latin typeface="Calibri"/>
              </a:rPr>
              <a:t>≈ zero — artifact removed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416552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33A"/>
                </a:solidFill>
                <a:latin typeface="Calibri"/>
              </a:rPr>
              <a:t>Best quantum re-check of AI designs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4507992"/>
            <a:ext cx="3977639" cy="310896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97680" y="4507992"/>
            <a:ext cx="198881" cy="310896"/>
          </a:xfrm>
          <a:prstGeom prst="roundRect">
            <a:avLst/>
          </a:prstGeom>
          <a:solidFill>
            <a:srgbClr val="D8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5047" y="4416552"/>
            <a:ext cx="25146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D84A3C"/>
                </a:solidFill>
                <a:latin typeface="Calibri"/>
              </a:rPr>
              <a:t>no winner — decision → experiment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" y="2212848"/>
            <a:ext cx="38100" cy="2606040"/>
          </a:xfrm>
          <a:prstGeom prst="rect">
            <a:avLst/>
          </a:prstGeom>
          <a:solidFill>
            <a:srgbClr val="D3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148840"/>
            <a:ext cx="32004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B6472"/>
                </a:solidFill>
                <a:latin typeface="Calibri"/>
              </a:rP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257800"/>
            <a:ext cx="10820095" cy="77724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349240"/>
            <a:ext cx="10088575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less careful analysis would have made a confident — and wrong — claim at every rung. Knowing precisely what is NOT true is a real, durable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2009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LEARNING FROM APPROVED DRUGS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33A"/>
                </a:solidFill>
                <a:latin typeface="Calibri"/>
              </a:rPr>
              <a:t>Echinocandins: same target, real clinical data — shape beats greasiness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38251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5120640" cy="4023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794760"/>
            <a:ext cx="5120640" cy="15240"/>
          </a:xfrm>
          <a:prstGeom prst="rect">
            <a:avLst/>
          </a:prstGeom>
          <a:solidFill>
            <a:srgbClr val="D3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6120" y="1783080"/>
            <a:ext cx="15240" cy="4023360"/>
          </a:xfrm>
          <a:prstGeom prst="rect">
            <a:avLst/>
          </a:prstGeom>
          <a:solidFill>
            <a:srgbClr val="D3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824728"/>
            <a:ext cx="5120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5B6472"/>
                </a:solidFill>
                <a:latin typeface="Calibri"/>
              </a:rPr>
              <a:t>flexible / saturated tail        →        rigid / aromatic 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83080"/>
            <a:ext cx="274320" cy="402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B6472"/>
                </a:solidFill>
                <a:latin typeface="Calibri"/>
              </a:rPr>
              <a:t>loses ← serum activity → keeps</a:t>
            </a:r>
          </a:p>
        </p:txBody>
      </p:sp>
      <p:sp>
        <p:nvSpPr>
          <p:cNvPr id="13" name="Oval 12"/>
          <p:cNvSpPr/>
          <p:nvPr/>
        </p:nvSpPr>
        <p:spPr>
          <a:xfrm>
            <a:off x="1591056" y="2267712"/>
            <a:ext cx="237744" cy="23774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496312"/>
            <a:ext cx="1645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2E8B57"/>
                </a:solidFill>
                <a:latin typeface="Calibri"/>
              </a:rPr>
              <a:t>Caspofungin ✓</a:t>
            </a:r>
          </a:p>
        </p:txBody>
      </p:sp>
      <p:sp>
        <p:nvSpPr>
          <p:cNvPr id="15" name="Oval 14"/>
          <p:cNvSpPr/>
          <p:nvPr/>
        </p:nvSpPr>
        <p:spPr>
          <a:xfrm>
            <a:off x="4663440" y="4279392"/>
            <a:ext cx="237744" cy="237744"/>
          </a:xfrm>
          <a:prstGeom prst="ellipse">
            <a:avLst/>
          </a:prstGeom>
          <a:solidFill>
            <a:srgbClr val="D8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59352" y="4507992"/>
            <a:ext cx="1645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D84A3C"/>
                </a:solidFill>
                <a:latin typeface="Calibri"/>
              </a:rPr>
              <a:t>Anidulafungin</a:t>
            </a:r>
          </a:p>
        </p:txBody>
      </p:sp>
      <p:sp>
        <p:nvSpPr>
          <p:cNvPr id="17" name="Oval 16"/>
          <p:cNvSpPr/>
          <p:nvPr/>
        </p:nvSpPr>
        <p:spPr>
          <a:xfrm>
            <a:off x="4561027" y="5204764"/>
            <a:ext cx="237744" cy="237744"/>
          </a:xfrm>
          <a:prstGeom prst="ellipse">
            <a:avLst/>
          </a:prstGeom>
          <a:solidFill>
            <a:srgbClr val="D8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56939" y="5433364"/>
            <a:ext cx="1645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D84A3C"/>
                </a:solidFill>
                <a:latin typeface="Calibri"/>
              </a:rPr>
              <a:t>Micafungin</a:t>
            </a:r>
          </a:p>
        </p:txBody>
      </p:sp>
      <p:sp>
        <p:nvSpPr>
          <p:cNvPr id="19" name="Oval 18"/>
          <p:cNvSpPr/>
          <p:nvPr/>
        </p:nvSpPr>
        <p:spPr>
          <a:xfrm>
            <a:off x="4253788" y="4882896"/>
            <a:ext cx="237744" cy="237744"/>
          </a:xfrm>
          <a:prstGeom prst="ellipse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9700" y="5111496"/>
            <a:ext cx="1645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14233A"/>
                </a:solidFill>
                <a:latin typeface="Calibri"/>
              </a:rPr>
              <a:t>Our native 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783080"/>
            <a:ext cx="5349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F56A6"/>
                </a:solidFill>
                <a:latin typeface="Calibri"/>
              </a:rPr>
              <a:t>Approved-drug pattern (from our own data)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240280"/>
            <a:ext cx="5349240" cy="566928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72200" y="2240280"/>
            <a:ext cx="914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295144"/>
            <a:ext cx="48920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33A"/>
                </a:solidFill>
                <a:latin typeface="Calibri"/>
              </a:rPr>
              <a:t>Caspofungin</a:t>
            </a:r>
            <a:r>
              <a:rPr sz="1200" b="0">
                <a:solidFill>
                  <a:srgbClr val="5B6472"/>
                </a:solidFill>
                <a:latin typeface="Calibri"/>
              </a:rPr>
              <a:t>   ·   branched, flexible   ·   serum loss </a:t>
            </a:r>
            <a:r>
              <a:rPr sz="1250" b="1">
                <a:solidFill>
                  <a:srgbClr val="2E8B57"/>
                </a:solidFill>
                <a:latin typeface="Calibri"/>
              </a:rPr>
              <a:t>small  (~2–11×)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2898648"/>
            <a:ext cx="5349240" cy="566928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200" y="2898648"/>
            <a:ext cx="91440" cy="566928"/>
          </a:xfrm>
          <a:prstGeom prst="roundRect">
            <a:avLst/>
          </a:prstGeom>
          <a:solidFill>
            <a:srgbClr val="D8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953512"/>
            <a:ext cx="48920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33A"/>
                </a:solidFill>
                <a:latin typeface="Calibri"/>
              </a:rPr>
              <a:t>Anidulafungin</a:t>
            </a:r>
            <a:r>
              <a:rPr sz="1200" b="0">
                <a:solidFill>
                  <a:srgbClr val="5B6472"/>
                </a:solidFill>
                <a:latin typeface="Calibri"/>
              </a:rPr>
              <a:t>   ·   rigid, aromatic   ·   serum loss </a:t>
            </a:r>
            <a:r>
              <a:rPr sz="1250" b="1">
                <a:solidFill>
                  <a:srgbClr val="D84A3C"/>
                </a:solidFill>
                <a:latin typeface="Calibri"/>
              </a:rPr>
              <a:t>large  (~16–512×)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57016"/>
            <a:ext cx="5349240" cy="566928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72200" y="3557016"/>
            <a:ext cx="91440" cy="566928"/>
          </a:xfrm>
          <a:prstGeom prst="roundRect">
            <a:avLst/>
          </a:prstGeom>
          <a:solidFill>
            <a:srgbClr val="D8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611880"/>
            <a:ext cx="48920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4233A"/>
                </a:solidFill>
                <a:latin typeface="Calibri"/>
              </a:rPr>
              <a:t>Micafungin</a:t>
            </a:r>
            <a:r>
              <a:rPr sz="1200" b="0">
                <a:solidFill>
                  <a:srgbClr val="5B6472"/>
                </a:solidFill>
                <a:latin typeface="Calibri"/>
              </a:rPr>
              <a:t>   ·   rigid, aromatic   ·   serum loss </a:t>
            </a:r>
            <a:r>
              <a:rPr sz="1250" b="1">
                <a:solidFill>
                  <a:srgbClr val="D84A3C"/>
                </a:solidFill>
                <a:latin typeface="Calibri"/>
              </a:rPr>
              <a:t>large  (~64–1024×)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343400"/>
            <a:ext cx="5349240" cy="146304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4480560"/>
            <a:ext cx="4800600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2F56A6"/>
                </a:solidFill>
                <a:latin typeface="Calibri"/>
              </a:rPr>
              <a:t>Two lessons that redirected our design: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1.  The tail is REQUIRED for potency — can’t just make it water-friendly.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2.  SHAPE matters more than greasiness — flexible tail = less serum loss.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D84A3C"/>
                </a:solidFill>
                <a:latin typeface="Calibri"/>
              </a:rPr>
              <a:t>Our native tail is rigid &amp; flat → in the ‘bad’ zone.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2009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ROUND 1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33A"/>
                </a:solidFill>
                <a:latin typeface="Calibri"/>
              </a:rPr>
              <a:t>AI designed the tails; the quantum funnel caught a false positive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38251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3246120" cy="73152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5B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288036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5B6472"/>
                </a:solidFill>
                <a:latin typeface="Calibri"/>
              </a:rPr>
              <a:t>12 designed tails</a:t>
            </a:r>
          </a:p>
        </p:txBody>
      </p:sp>
      <p:sp>
        <p:nvSpPr>
          <p:cNvPr id="10" name="Chevron 9"/>
          <p:cNvSpPr/>
          <p:nvPr/>
        </p:nvSpPr>
        <p:spPr>
          <a:xfrm>
            <a:off x="3886200" y="1911096"/>
            <a:ext cx="256032" cy="292608"/>
          </a:xfrm>
          <a:prstGeom prst="chevron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77640" y="1691640"/>
            <a:ext cx="3246120" cy="73152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8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691640"/>
            <a:ext cx="288036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D88A2B"/>
                </a:solidFill>
                <a:latin typeface="Calibri"/>
              </a:rPr>
              <a:t>Cheap screen: 2 look best</a:t>
            </a:r>
          </a:p>
        </p:txBody>
      </p:sp>
      <p:sp>
        <p:nvSpPr>
          <p:cNvPr id="13" name="Chevron 12"/>
          <p:cNvSpPr/>
          <p:nvPr/>
        </p:nvSpPr>
        <p:spPr>
          <a:xfrm>
            <a:off x="7178040" y="1911096"/>
            <a:ext cx="256032" cy="292608"/>
          </a:xfrm>
          <a:prstGeom prst="chevron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69480" y="1691640"/>
            <a:ext cx="3246120" cy="73152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84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691640"/>
            <a:ext cx="288036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D84A3C"/>
                </a:solidFill>
                <a:latin typeface="Calibri"/>
              </a:rPr>
              <a:t>Accurate quantum: 0 of 3 hold up</a:t>
            </a:r>
          </a:p>
        </p:txBody>
      </p:sp>
      <p:pic>
        <p:nvPicPr>
          <p:cNvPr id="16" name="Picture 15" descr="phase13_qm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97480"/>
            <a:ext cx="3879669" cy="3017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12280" y="2743200"/>
            <a:ext cx="466344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F56A6"/>
                </a:solidFill>
                <a:latin typeface="Calibri"/>
              </a:rPr>
              <a:t>What happened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The cheap method’s ‘winner’ (a water-friendly group) </a:t>
            </a:r>
            <a:r>
              <a:rPr sz="1300" b="1">
                <a:solidFill>
                  <a:srgbClr val="D84A3C"/>
                </a:solidFill>
                <a:latin typeface="Calibri"/>
              </a:rPr>
              <a:t>folds up and hides in accurate 3-D</a:t>
            </a:r>
            <a:r>
              <a:rPr sz="1300" b="0">
                <a:solidFill>
                  <a:srgbClr val="14233A"/>
                </a:solidFill>
                <a:latin typeface="Calibri"/>
              </a:rPr>
              <a:t> — an artifact.</a:t>
            </a:r>
          </a:p>
          <a:p>
            <a:pPr algn="l">
              <a:spcAft>
                <a:spcPts val="400"/>
              </a:spcAft>
            </a:pPr>
            <a:r>
              <a:rPr sz="1350" b="1">
                <a:solidFill>
                  <a:srgbClr val="2E8B57"/>
                </a:solidFill>
                <a:latin typeface="Calibri"/>
              </a:rPr>
              <a:t>We caught it BEFORE any lab synthesis.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14233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Conclusion: the computed surface score does not, by itself, reliably rank these tails. The decision moves to experiment.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2009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THE DELIVERABLE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33A"/>
                </a:solidFill>
                <a:latin typeface="Calibri"/>
              </a:rPr>
              <a:t>A ranked, easy-to-make shortlist — redirected by the drug lesson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38251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1082009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New idea (from echinocandins): don’t make the tail water-friendly — </a:t>
            </a:r>
            <a:r>
              <a:rPr sz="1400" b="1">
                <a:solidFill>
                  <a:srgbClr val="2E8B57"/>
                </a:solidFill>
                <a:latin typeface="Calibri"/>
              </a:rPr>
              <a:t>make it less rigid</a:t>
            </a:r>
            <a:r>
              <a:rPr sz="1400" b="0">
                <a:solidFill>
                  <a:srgbClr val="14233A"/>
                </a:solidFill>
                <a:latin typeface="Calibri"/>
              </a:rPr>
              <a:t>.  Same length (keeps potency), only the shape changes.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77440"/>
            <a:ext cx="2651760" cy="2011680"/>
          </a:xfrm>
          <a:prstGeom prst="roundRect">
            <a:avLst/>
          </a:prstGeom>
          <a:solidFill>
            <a:srgbClr val="FBE8E6"/>
          </a:solidFill>
          <a:ln w="12700">
            <a:solidFill>
              <a:srgbClr val="D84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28600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84A3C"/>
                </a:solidFill>
                <a:latin typeface="Calibri"/>
              </a:rPr>
              <a:t>Native tail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rigid, flat (a polyene)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D84A3C"/>
                </a:solidFill>
                <a:latin typeface="Calibri"/>
              </a:rPr>
              <a:t>= the problem</a:t>
            </a:r>
          </a:p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B6472"/>
                </a:solidFill>
                <a:latin typeface="Calibri"/>
              </a:rPr>
              <a:t>reference baseline</a:t>
            </a:r>
          </a:p>
        </p:txBody>
      </p:sp>
      <p:sp>
        <p:nvSpPr>
          <p:cNvPr id="11" name="Chevron 10"/>
          <p:cNvSpPr/>
          <p:nvPr/>
        </p:nvSpPr>
        <p:spPr>
          <a:xfrm>
            <a:off x="3383280" y="3200400"/>
            <a:ext cx="274320" cy="365760"/>
          </a:xfrm>
          <a:prstGeom prst="chevron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86200" y="2377440"/>
            <a:ext cx="2606040" cy="2011680"/>
          </a:xfrm>
          <a:prstGeom prst="roundRect">
            <a:avLst/>
          </a:prstGeom>
          <a:solidFill>
            <a:srgbClr val="E7F4EA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87368" y="2560320"/>
            <a:ext cx="2203704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Palmitoyl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straight, flexible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4233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★ make first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2377440"/>
            <a:ext cx="2606040" cy="2011680"/>
          </a:xfrm>
          <a:prstGeom prst="roundRect">
            <a:avLst/>
          </a:prstGeom>
          <a:solidFill>
            <a:srgbClr val="E7F4EA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0568" y="2560320"/>
            <a:ext cx="2203704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Branched saturated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caspofungin-like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4233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★ make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72600" y="2377440"/>
            <a:ext cx="2606040" cy="201168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1F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73768" y="2560320"/>
            <a:ext cx="2203704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One-kink version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rigidity control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4233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1F8A8A"/>
                </a:solidFill>
                <a:latin typeface="Calibri"/>
              </a:rPr>
              <a:t>make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09160"/>
            <a:ext cx="10820095" cy="118872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846320"/>
            <a:ext cx="10088575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8A8A"/>
                </a:solidFill>
                <a:latin typeface="Calibri"/>
              </a:rPr>
              <a:t>A happy coincidence:  </a:t>
            </a:r>
            <a:r>
              <a:rPr sz="1500" b="1">
                <a:solidFill>
                  <a:srgbClr val="FFFFFF"/>
                </a:solidFill>
                <a:latin typeface="Calibri"/>
              </a:rPr>
              <a:t>these are also the EASIEST to synthesize</a:t>
            </a:r>
            <a:r>
              <a:rPr sz="1400" b="0">
                <a:solidFill>
                  <a:srgbClr val="C8D2DC"/>
                </a:solidFill>
                <a:latin typeface="Calibri"/>
              </a:rPr>
              <a:t> — cheap, off-the-shelf fatty acids in one step,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8D2DC"/>
                </a:solidFill>
                <a:latin typeface="Calibri"/>
              </a:rPr>
              <a:t>unlike the original rigid tail or exotic water-friendly tails. </a:t>
            </a:r>
            <a:r>
              <a:rPr sz="1400" b="1">
                <a:solidFill>
                  <a:srgbClr val="FFFFFF"/>
                </a:solidFill>
                <a:latin typeface="Calibri"/>
              </a:rPr>
              <a:t>Best scientific bet = cheapest chemistry.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2009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33A"/>
                </a:solidFill>
                <a:latin typeface="Calibri"/>
              </a:rPr>
              <a:t>What this program delivered — a reusable platform, not a one-off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38251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3454298" cy="192024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83080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2997098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📊  Benchmark dataset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138 compounds, 1,042 records,
full provenance — a field resource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1783080"/>
            <a:ext cx="3454298" cy="192024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698" y="1783080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298" y="1984248"/>
            <a:ext cx="2997098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🔬  Validated QM method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multi-tier quantum pipeline +
in-house 3-D surface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1596" y="1783080"/>
            <a:ext cx="3454298" cy="192024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51596" y="1783080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196" y="1984248"/>
            <a:ext cx="2997098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🤖  AI molecule generator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novel-structure design with a
reward checked against real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31920"/>
            <a:ext cx="3454298" cy="192024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931920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33088"/>
            <a:ext cx="2997098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💊  Cross-drug read-across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clinical echinocandin evidence
imported into the design logic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698" y="3931920"/>
            <a:ext cx="3454298" cy="192024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68698" y="3931920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7298" y="4133088"/>
            <a:ext cx="2997098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⚙️  Reproducible engineering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14 documented stages, automated
tests, cluster run protocols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51596" y="3931920"/>
            <a:ext cx="3454298" cy="192024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3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51596" y="3931920"/>
            <a:ext cx="3454298" cy="50800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0196" y="4133088"/>
            <a:ext cx="2997098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🗺️  Roadmap + shortlist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472"/>
                </a:solidFill>
                <a:latin typeface="Calibri"/>
              </a:rPr>
              <a:t>the exact experiment that
unlocks predictive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2009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THE KEY LESSON &amp; 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33A"/>
                </a:solidFill>
                <a:latin typeface="Calibri"/>
              </a:rPr>
              <a:t>Where AI helps — and the loop that gets us there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38251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10820095" cy="141732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74519"/>
            <a:ext cx="10088575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F56A6"/>
                </a:solidFill>
                <a:latin typeface="Calibri"/>
              </a:rPr>
              <a:t>This is NOT “AI failed.”  </a:t>
            </a:r>
            <a:r>
              <a:rPr sz="1500" b="0">
                <a:solidFill>
                  <a:srgbClr val="14233A"/>
                </a:solidFill>
                <a:latin typeface="Calibri"/>
              </a:rPr>
              <a:t>It is a precise statement of the critical path: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AI drug design needs a measured ‘answer key’. Physics-based guesses alone were shown — rigorously — to mislead.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E8B57"/>
                </a:solidFill>
                <a:latin typeface="Calibri"/>
              </a:rPr>
              <a:t>We now know exactly which few experiments unlock the AI — and the AI is already built to use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40480"/>
            <a:ext cx="2327833" cy="137160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2F5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840480"/>
            <a:ext cx="109728" cy="1371600"/>
          </a:xfrm>
          <a:prstGeom prst="round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840480"/>
            <a:ext cx="1962073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4233A"/>
                </a:solidFill>
                <a:latin typeface="Calibri"/>
              </a:rPr>
              <a:t>1.  Synthesize the
4-molecule shortlist</a:t>
            </a:r>
          </a:p>
        </p:txBody>
      </p:sp>
      <p:sp>
        <p:nvSpPr>
          <p:cNvPr id="13" name="Chevron 12"/>
          <p:cNvSpPr/>
          <p:nvPr/>
        </p:nvSpPr>
        <p:spPr>
          <a:xfrm>
            <a:off x="3123361" y="4343400"/>
            <a:ext cx="274320" cy="365760"/>
          </a:xfrm>
          <a:prstGeom prst="chevron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16553" y="3840480"/>
            <a:ext cx="2327833" cy="137160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D8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16553" y="3840480"/>
            <a:ext cx="109728" cy="1371600"/>
          </a:xfrm>
          <a:prstGeom prst="roundRect">
            <a:avLst/>
          </a:prstGeom>
          <a:solidFill>
            <a:srgbClr val="D8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2585" y="3840480"/>
            <a:ext cx="1962073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4233A"/>
                </a:solidFill>
                <a:latin typeface="Calibri"/>
              </a:rPr>
              <a:t>2.  Measure serum shift
+ protein binding</a:t>
            </a:r>
          </a:p>
        </p:txBody>
      </p:sp>
      <p:sp>
        <p:nvSpPr>
          <p:cNvPr id="17" name="Chevron 16"/>
          <p:cNvSpPr/>
          <p:nvPr/>
        </p:nvSpPr>
        <p:spPr>
          <a:xfrm>
            <a:off x="5954115" y="4343400"/>
            <a:ext cx="274320" cy="365760"/>
          </a:xfrm>
          <a:prstGeom prst="chevron">
            <a:avLst/>
          </a:prstGeom>
          <a:solidFill>
            <a:srgbClr val="D8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7307" y="3840480"/>
            <a:ext cx="2327833" cy="137160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47307" y="3840480"/>
            <a:ext cx="109728" cy="13716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3339" y="3840480"/>
            <a:ext cx="1962073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4233A"/>
                </a:solidFill>
                <a:latin typeface="Calibri"/>
              </a:rPr>
              <a:t>3.  Train the AI
on the results</a:t>
            </a:r>
          </a:p>
        </p:txBody>
      </p:sp>
      <p:sp>
        <p:nvSpPr>
          <p:cNvPr id="21" name="Chevron 20"/>
          <p:cNvSpPr/>
          <p:nvPr/>
        </p:nvSpPr>
        <p:spPr>
          <a:xfrm>
            <a:off x="8784869" y="4343400"/>
            <a:ext cx="274320" cy="365760"/>
          </a:xfrm>
          <a:prstGeom prst="chevron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78061" y="3840480"/>
            <a:ext cx="2327833" cy="1371600"/>
          </a:xfrm>
          <a:prstGeom prst="roundRect">
            <a:avLst/>
          </a:prstGeom>
          <a:solidFill>
            <a:srgbClr val="F2F5F9"/>
          </a:solidFill>
          <a:ln w="12700">
            <a:solidFill>
              <a:srgbClr val="1F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78061" y="3840480"/>
            <a:ext cx="109728" cy="1371600"/>
          </a:xfrm>
          <a:prstGeom prst="round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4093" y="3840480"/>
            <a:ext cx="1962073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4233A"/>
                </a:solidFill>
                <a:latin typeface="Calibri"/>
              </a:rPr>
              <a:t>4.  AI designs
round 2 (wider)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440680"/>
            <a:ext cx="1082009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F8A8A"/>
                </a:solidFill>
                <a:latin typeface="Calibri"/>
              </a:rPr>
              <a:t>↻  A virtuous loop: each round of data makes the AI a better designer.  </a:t>
            </a:r>
            <a:r>
              <a:rPr sz="1350" b="0">
                <a:solidFill>
                  <a:srgbClr val="5B6472"/>
                </a:solidFill>
                <a:latin typeface="Calibri"/>
              </a:rPr>
              <a:t>Immediate next step needs no more computing.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82009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56A6"/>
                </a:solidFill>
                <a:latin typeface="Calibri"/>
              </a:rPr>
              <a:t>SIGNIFICANCE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820095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4233A"/>
                </a:solidFill>
                <a:latin typeface="Calibri"/>
              </a:rPr>
              <a:t>Why this matters for the field — and the one-line takeaway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1463040" cy="38100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382512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472"/>
                </a:solidFill>
                <a:latin typeface="Calibri"/>
              </a:rPr>
              <a:t>11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792224"/>
            <a:ext cx="146304" cy="146304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454335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Revived a stalled, high-value drug class as a tractable design problem  </a:t>
            </a:r>
            <a:r>
              <a:rPr sz="1300" b="0" i="1">
                <a:solidFill>
                  <a:srgbClr val="5B6472"/>
                </a:solidFill>
                <a:latin typeface="Calibri"/>
              </a:rPr>
              <a:t>— addresses an urgent unmet clinical need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395728"/>
            <a:ext cx="146304" cy="146304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340864"/>
            <a:ext cx="10454335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Built an end-to-end AI + quantum-chemistry discovery platform  </a:t>
            </a:r>
            <a:r>
              <a:rPr sz="1300" b="0" i="1">
                <a:solidFill>
                  <a:srgbClr val="5B6472"/>
                </a:solidFill>
                <a:latin typeface="Calibri"/>
              </a:rPr>
              <a:t>— reusable across natural-product programs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999232"/>
            <a:ext cx="146304" cy="146304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944368"/>
            <a:ext cx="10454335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Demonstrated rigorous self-correction (the ‘honesty ladder’)  </a:t>
            </a:r>
            <a:r>
              <a:rPr sz="1300" b="0" i="1">
                <a:solidFill>
                  <a:srgbClr val="5B6472"/>
                </a:solidFill>
                <a:latin typeface="Calibri"/>
              </a:rPr>
              <a:t>— the hallmark of trustworthy, independent science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602736"/>
            <a:ext cx="146304" cy="146304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0454335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Integrated chemistry + machine learning + quantum physics + pharmacology  </a:t>
            </a:r>
            <a:r>
              <a:rPr sz="1300" b="0" i="1">
                <a:solidFill>
                  <a:srgbClr val="5B6472"/>
                </a:solidFill>
                <a:latin typeface="Calibri"/>
              </a:rPr>
              <a:t>— genuinely interdisciplinary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206240"/>
            <a:ext cx="146304" cy="146304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51376"/>
            <a:ext cx="10454335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4233A"/>
                </a:solidFill>
                <a:latin typeface="Calibri"/>
              </a:rPr>
              <a:t>Defined the exact experiment that unlocks predictive AI  </a:t>
            </a:r>
            <a:r>
              <a:rPr sz="1300" b="0" i="1">
                <a:solidFill>
                  <a:srgbClr val="5B6472"/>
                </a:solidFill>
                <a:latin typeface="Calibri"/>
              </a:rPr>
              <a:t>— de-risks and directs future investment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937760"/>
            <a:ext cx="10820095" cy="1280160"/>
          </a:xfrm>
          <a:prstGeom prst="round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074920"/>
            <a:ext cx="9997135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Calibri"/>
              </a:rPr>
              <a:t>“We set out to teach a computer to design a serum-tolerant antifungal. We built the platform, curated the data, imported lessons from approved drugs, and — most importantly — learned to tell a real signal from a flattering illusion.</a:t>
            </a:r>
          </a:p>
          <a:p>
            <a:pPr algn="l">
              <a:spcAft>
                <a:spcPts val="400"/>
              </a:spcAft>
            </a:pPr>
            <a:r>
              <a:rPr sz="1400" b="1" i="1">
                <a:solidFill>
                  <a:srgbClr val="1F8A8A"/>
                </a:solidFill>
                <a:latin typeface="Calibri"/>
              </a:rPr>
              <a:t>The computer is ready; it awaits one clean experiment, which we have designed down to the exact four molecules.”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5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8A8A"/>
                </a:solidFill>
                <a:latin typeface="Calibri"/>
              </a:rPr>
              <a:t>Questions &amp; discussion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9CB4D8"/>
                </a:solidFill>
                <a:latin typeface="Calibri"/>
              </a:rPr>
              <a:t>Full technical detail, code, and reproducible reports: project repository (Phases 1–14).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