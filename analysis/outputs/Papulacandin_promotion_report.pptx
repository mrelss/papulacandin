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9CB4D8"/>
                </a:solidFill>
                <a:latin typeface="Calibri"/>
              </a:rPr>
              <a:t>PROMOTION REVIEW  ·  RESEARCH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607040" cy="2194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Designing Serum-Tolerant Antifungal Candidates</a:t>
            </a:r>
          </a:p>
          <a:p>
            <a:pPr algn="l">
              <a:spcAft>
                <a:spcPts val="400"/>
              </a:spcAft>
            </a:pPr>
            <a:r>
              <a:rPr sz="2100" b="0">
                <a:solidFill>
                  <a:srgbClr val="1F8A8A"/>
                </a:solidFill>
                <a:latin typeface="Calibri"/>
              </a:rPr>
              <a:t>An AI- and Quantum-Chemistry–Guided Drug Discovery Program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C8D2DC"/>
                </a:solidFill>
                <a:latin typeface="Calibri"/>
              </a:rPr>
              <a:t>on the Papulacandin / Fusacandin class (β-1,3-glucan / FKS1 inhibitors)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8D2DC"/>
                </a:solidFill>
                <a:latin typeface="Calibri"/>
              </a:rPr>
              <a:t>Presenter:  ______________________          Date:  ____________</a:t>
            </a:r>
          </a:p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9CB4D8"/>
                </a:solidFill>
                <a:latin typeface="Calibri"/>
              </a:rPr>
              <a:t>A complete, reproducible pipeline — from scattered literature to a ready-to-test design.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10820095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56A6"/>
                </a:solidFill>
                <a:latin typeface="Calibri"/>
              </a:rPr>
              <a:t>BACKGROUND ·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1792"/>
            <a:ext cx="1082009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233A"/>
                </a:solidFill>
                <a:latin typeface="Calibri"/>
              </a:rPr>
              <a:t>Invasive fungal infections: an urgent, under-served threat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16736"/>
            <a:ext cx="1463040" cy="38100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472"/>
                </a:solidFill>
                <a:latin typeface="Calibr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91640"/>
            <a:ext cx="3538728" cy="150876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28016" cy="1508760"/>
          </a:xfrm>
          <a:prstGeom prst="roundRect">
            <a:avLst/>
          </a:prstGeom>
          <a:solidFill>
            <a:srgbClr val="D8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29384"/>
            <a:ext cx="3081528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233A"/>
                </a:solidFill>
                <a:latin typeface="Calibri"/>
              </a:rPr>
              <a:t>Rising incidence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472"/>
                </a:solidFill>
                <a:latin typeface="Calibri"/>
              </a:rPr>
              <a:t>hundreds of thousands of deaths / year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62272" y="1691640"/>
            <a:ext cx="3538728" cy="150876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62272" y="1691640"/>
            <a:ext cx="128016" cy="1508760"/>
          </a:xfrm>
          <a:prstGeom prst="roundRect">
            <a:avLst/>
          </a:prstGeom>
          <a:solidFill>
            <a:srgbClr val="D8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82312" y="1929384"/>
            <a:ext cx="3081528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233A"/>
                </a:solidFill>
                <a:latin typeface="Calibri"/>
              </a:rPr>
              <a:t>Very few drug classes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472"/>
                </a:solidFill>
                <a:latin typeface="Calibri"/>
              </a:rPr>
              <a:t>limited options, serious side effects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8744" y="1691640"/>
            <a:ext cx="3538728" cy="150876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8744" y="1691640"/>
            <a:ext cx="128016" cy="1508760"/>
          </a:xfrm>
          <a:prstGeom prst="round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58784" y="1929384"/>
            <a:ext cx="3081528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233A"/>
                </a:solidFill>
                <a:latin typeface="Calibri"/>
              </a:rPr>
              <a:t>Resistance spreading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472"/>
                </a:solidFill>
                <a:latin typeface="Calibri"/>
              </a:rPr>
              <a:t>existing drugs losing ground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611880"/>
            <a:ext cx="10820095" cy="214884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840480"/>
            <a:ext cx="10088575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F56A6"/>
                </a:solidFill>
                <a:latin typeface="Calibri"/>
              </a:rPr>
              <a:t>The opportunity — and the catch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4233A"/>
                </a:solidFill>
                <a:latin typeface="Calibri"/>
              </a:rPr>
              <a:t>The </a:t>
            </a:r>
            <a:r>
              <a:rPr sz="1500" b="1">
                <a:solidFill>
                  <a:srgbClr val="14233A"/>
                </a:solidFill>
                <a:latin typeface="Calibri"/>
              </a:rPr>
              <a:t>papulacandin</a:t>
            </a:r>
            <a:r>
              <a:rPr sz="1500" b="0">
                <a:solidFill>
                  <a:srgbClr val="14233A"/>
                </a:solidFill>
                <a:latin typeface="Calibri"/>
              </a:rPr>
              <a:t> natural products block the enzyme that builds the fungal cell wall (β-1,3-glucan synthase / FKS1). Humans have no cell wall → an attractive, low-toxicity target.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D84A3C"/>
                </a:solidFill>
                <a:latin typeface="Calibri"/>
              </a:rPr>
              <a:t>❗  The catch: potent in a test tube, but </a:t>
            </a:r>
            <a:r>
              <a:rPr sz="1500" b="1">
                <a:solidFill>
                  <a:srgbClr val="D84A3C"/>
                </a:solidFill>
                <a:latin typeface="Calibri"/>
              </a:rPr>
              <a:t>activity is lost in blood serum</a:t>
            </a:r>
            <a:r>
              <a:rPr sz="1500" b="0">
                <a:solidFill>
                  <a:srgbClr val="D84A3C"/>
                </a:solidFill>
                <a:latin typeface="Calibri"/>
              </a:rPr>
              <a:t> — so they never became drugs.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4233A"/>
                </a:solidFill>
                <a:latin typeface="Calibri"/>
              </a:rPr>
              <a:t>If we understand and fix that, we revive an entire drug class.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10820095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56A6"/>
                </a:solidFill>
                <a:latin typeface="Calibri"/>
              </a:rPr>
              <a:t>BACKGROUND · THE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1792"/>
            <a:ext cx="1082009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233A"/>
                </a:solidFill>
                <a:latin typeface="Calibri"/>
              </a:rPr>
              <a:t>The evidence base: decades of scattered literature, curated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16736"/>
            <a:ext cx="1463040" cy="38100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472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fig_data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749" y="1600200"/>
            <a:ext cx="9382196" cy="36118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85800" y="5532120"/>
            <a:ext cx="10820095" cy="822960"/>
          </a:xfrm>
          <a:prstGeom prst="round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586984"/>
            <a:ext cx="10088575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 clean, provenance-tracked benchmark — itself a lasting resource for the field.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10820095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56A6"/>
                </a:solidFill>
                <a:latin typeface="Calibri"/>
              </a:rPr>
              <a:t>THE SCIENTIFIC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1792"/>
            <a:ext cx="1082009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233A"/>
                </a:solidFill>
                <a:latin typeface="Calibri"/>
              </a:rPr>
              <a:t>The serum gap, quantified: blood switches most analogs 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16736"/>
            <a:ext cx="1463040" cy="38100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472"/>
                </a:solidFill>
                <a:latin typeface="Calibri"/>
              </a:rPr>
              <a:t>4</a:t>
            </a:r>
          </a:p>
        </p:txBody>
      </p:sp>
      <p:pic>
        <p:nvPicPr>
          <p:cNvPr id="8" name="Picture 7" descr="fig_serum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8811" y="1463040"/>
            <a:ext cx="6894072" cy="397763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85800" y="5806440"/>
            <a:ext cx="10820095" cy="822960"/>
          </a:xfrm>
          <a:prstGeom prst="round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861304"/>
            <a:ext cx="10088575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“serum shift”  =  dose needed in serum  ÷  dose needed in broth</a:t>
            </a:r>
            <a:r>
              <a:rPr sz="1400" b="0">
                <a:solidFill>
                  <a:srgbClr val="C8D2DC"/>
                </a:solidFill>
                <a:latin typeface="Calibri"/>
              </a:rPr>
              <a:t>      — the one number we set out to lower.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10820095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56A6"/>
                </a:solidFill>
                <a:latin typeface="Calibri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1792"/>
            <a:ext cx="1082009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233A"/>
                </a:solidFill>
                <a:latin typeface="Calibri"/>
              </a:rPr>
              <a:t>A 14-stage funnel: start broad and cheap, narrow to confident designs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16736"/>
            <a:ext cx="1463040" cy="38100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472"/>
                </a:solidFill>
                <a:latin typeface="Calibri"/>
              </a:rPr>
              <a:t>5</a:t>
            </a:r>
          </a:p>
        </p:txBody>
      </p:sp>
      <p:pic>
        <p:nvPicPr>
          <p:cNvPr id="8" name="Picture 7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373" y="1463040"/>
            <a:ext cx="10022948" cy="4114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85800" y="5806440"/>
            <a:ext cx="10820095" cy="822960"/>
          </a:xfrm>
          <a:prstGeom prst="round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861304"/>
            <a:ext cx="10088575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Each stage checks our reasoning before the next — and the whole platform is reusable.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10820095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56A6"/>
                </a:solidFill>
                <a:latin typeface="Calibri"/>
              </a:rPr>
              <a:t>METHODS · THE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1792"/>
            <a:ext cx="1082009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233A"/>
                </a:solidFill>
                <a:latin typeface="Calibri"/>
              </a:rPr>
              <a:t>The staged quantum-chemistry funnel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16736"/>
            <a:ext cx="1463040" cy="38100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472"/>
                </a:solidFill>
                <a:latin typeface="Calibri"/>
              </a:rPr>
              <a:t>6</a:t>
            </a:r>
          </a:p>
        </p:txBody>
      </p:sp>
      <p:pic>
        <p:nvPicPr>
          <p:cNvPr id="8" name="Picture 7" descr="fig_qm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618" y="1417320"/>
            <a:ext cx="5826843" cy="4937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86600" y="1828800"/>
            <a:ext cx="4480560" cy="4206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F56A6"/>
                </a:solidFill>
                <a:latin typeface="Calibri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33A"/>
                </a:solidFill>
                <a:latin typeface="Calibri"/>
              </a:rPr>
              <a:t>①  AI invents novel molecules.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4233A"/>
                </a:solidFill>
                <a:latin typeface="Calibri"/>
              </a:rPr>
              <a:t>②  Cheap filters remove the obvious losers.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4233A"/>
                </a:solidFill>
                <a:latin typeface="Calibri"/>
              </a:rPr>
              <a:t>③  Accurate quantum chemistry computes the real 3-D shapes — and re-checks the cheap results.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4233A"/>
                </a:solidFill>
                <a:latin typeface="Calibri"/>
              </a:rPr>
              <a:t>④  The costliest method (DFT) touches only the few survivors.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14233A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F8A8A"/>
                </a:solidFill>
                <a:latin typeface="Calibri"/>
              </a:rPr>
              <a:t>Same measurement engine at every tier → a fair, honest comparison.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10820095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56A6"/>
                </a:solidFill>
                <a:latin typeface="Calibri"/>
              </a:rPr>
              <a:t>KEY METHODOLOGICAL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1792"/>
            <a:ext cx="1082009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233A"/>
                </a:solidFill>
                <a:latin typeface="Calibri"/>
              </a:rPr>
              <a:t>The “honesty ladder”: more rigor shrank the easy signal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16736"/>
            <a:ext cx="1463040" cy="38100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472"/>
                </a:solidFill>
                <a:latin typeface="Calibri"/>
              </a:rPr>
              <a:t>7</a:t>
            </a:r>
          </a:p>
        </p:txBody>
      </p:sp>
      <p:pic>
        <p:nvPicPr>
          <p:cNvPr id="8" name="Picture 7" descr="fig_honesty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3530" y="1417320"/>
            <a:ext cx="6444633" cy="397763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85800" y="5806440"/>
            <a:ext cx="10820095" cy="822960"/>
          </a:xfrm>
          <a:prstGeom prst="round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861304"/>
            <a:ext cx="10088575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 less careful analysis would have made a confident — and WRONG — claim at every rung. </a:t>
            </a:r>
            <a:r>
              <a:rPr sz="1400" b="0">
                <a:solidFill>
                  <a:srgbClr val="C8D2DC"/>
                </a:solidFill>
                <a:latin typeface="Calibri"/>
              </a:rPr>
              <a:t>Knowing what is NOT true is a real, durable result.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10820095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56A6"/>
                </a:solidFill>
                <a:latin typeface="Calibri"/>
              </a:rPr>
              <a:t>RESULT · THE DECISIVE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1792"/>
            <a:ext cx="1082009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233A"/>
                </a:solidFill>
                <a:latin typeface="Calibri"/>
              </a:rPr>
              <a:t>Why the exciting signal collapsed: it was mostly potency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16736"/>
            <a:ext cx="1463040" cy="38100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472"/>
                </a:solidFill>
                <a:latin typeface="Calibri"/>
              </a:rPr>
              <a:t>8</a:t>
            </a:r>
          </a:p>
        </p:txBody>
      </p:sp>
      <p:pic>
        <p:nvPicPr>
          <p:cNvPr id="8" name="Picture 7" descr="fig_conf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3034" y="1463040"/>
            <a:ext cx="7285626" cy="40690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85800" y="5806440"/>
            <a:ext cx="10820095" cy="822960"/>
          </a:xfrm>
          <a:prstGeom prst="round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861304"/>
            <a:ext cx="10088575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Serum outcome is governed by intrinsic potency (ρ=0.79); remove it and the 3-D signal vanishes — </a:t>
            </a:r>
            <a:r>
              <a:rPr sz="1400" b="0">
                <a:solidFill>
                  <a:srgbClr val="C8D2DC"/>
                </a:solidFill>
                <a:latin typeface="Calibri"/>
              </a:rPr>
              <a:t>so we model the potency-free SHIFT.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10820095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56A6"/>
                </a:solidFill>
                <a:latin typeface="Calibri"/>
              </a:rPr>
              <a:t>RESULT · INDEPENDENT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1792"/>
            <a:ext cx="1082009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233A"/>
                </a:solidFill>
                <a:latin typeface="Calibri"/>
              </a:rPr>
              <a:t>A different property (electronics) — the same honest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16736"/>
            <a:ext cx="1463040" cy="38100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472"/>
                </a:solidFill>
                <a:latin typeface="Calibri"/>
              </a:rPr>
              <a:t>9</a:t>
            </a:r>
          </a:p>
        </p:txBody>
      </p:sp>
      <p:pic>
        <p:nvPicPr>
          <p:cNvPr id="8" name="Picture 7" descr="fig_electron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84418"/>
            <a:ext cx="6858000" cy="35292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1874519"/>
            <a:ext cx="3931920" cy="402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F56A6"/>
                </a:solidFill>
                <a:latin typeface="Calibri"/>
              </a:rPr>
              <a:t>What it shows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4233A"/>
                </a:solidFill>
                <a:latin typeface="Calibri"/>
              </a:rPr>
              <a:t>•  Polarizability looks like the strongest signal — but it is a </a:t>
            </a:r>
            <a:r>
              <a:rPr sz="1350" b="1">
                <a:solidFill>
                  <a:srgbClr val="14233A"/>
                </a:solidFill>
                <a:latin typeface="Calibri"/>
              </a:rPr>
              <a:t>size / potency proxy</a:t>
            </a:r>
            <a:r>
              <a:rPr sz="1350" b="0">
                <a:solidFill>
                  <a:srgbClr val="14233A"/>
                </a:solidFill>
                <a:latin typeface="Calibri"/>
              </a:rPr>
              <a:t> (vanishes on the shift).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4233A"/>
                </a:solidFill>
                <a:latin typeface="Calibri"/>
              </a:rPr>
              <a:t>•  </a:t>
            </a:r>
            <a:r>
              <a:rPr sz="1350" b="1">
                <a:solidFill>
                  <a:srgbClr val="1F8A8A"/>
                </a:solidFill>
                <a:latin typeface="Calibri"/>
              </a:rPr>
              <a:t>QM logP</a:t>
            </a:r>
            <a:r>
              <a:rPr sz="1350" b="0">
                <a:solidFill>
                  <a:srgbClr val="14233A"/>
                </a:solidFill>
                <a:latin typeface="Calibri"/>
              </a:rPr>
              <a:t> independently corroborates the polar-surface lead (+0.30 on the shift).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14233A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50" b="1">
                <a:solidFill>
                  <a:srgbClr val="14233A"/>
                </a:solidFill>
                <a:latin typeface="Calibri"/>
              </a:rPr>
              <a:t>Two unrelated descriptor families converge on the same weak, honest conclusion.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10820095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56A6"/>
                </a:solidFill>
                <a:latin typeface="Calibri"/>
              </a:rPr>
              <a:t>LEARNING FROM APPROVED DRUGS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1792"/>
            <a:ext cx="1082009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233A"/>
                </a:solidFill>
                <a:latin typeface="Calibri"/>
              </a:rPr>
              <a:t>Echinocandins: same target, real clinical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16736"/>
            <a:ext cx="1463040" cy="38100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472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fig_echinocand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9448"/>
            <a:ext cx="6309360" cy="42049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23760" y="1783080"/>
            <a:ext cx="43434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F56A6"/>
                </a:solidFill>
                <a:latin typeface="Calibri"/>
              </a:rPr>
              <a:t>Two lessons that redirected our design: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2514600"/>
            <a:ext cx="4343400" cy="137160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0" y="2514600"/>
            <a:ext cx="109728" cy="1371600"/>
          </a:xfrm>
          <a:prstGeom prst="roundRect">
            <a:avLst/>
          </a:prstGeom>
          <a:solidFill>
            <a:srgbClr val="D8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0" y="2651760"/>
            <a:ext cx="3931920" cy="1143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4233A"/>
                </a:solidFill>
                <a:latin typeface="Calibri"/>
              </a:rPr>
              <a:t>1.  The tail is REQUIRED for potency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472"/>
                </a:solidFill>
                <a:latin typeface="Calibri"/>
              </a:rPr>
              <a:t>can’t just make it water-friendly or cut it off, or the drug stops working.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0" y="4069080"/>
            <a:ext cx="4343400" cy="137160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23760" y="4069080"/>
            <a:ext cx="109728" cy="137160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0" y="4206240"/>
            <a:ext cx="3931920" cy="1143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4233A"/>
                </a:solidFill>
                <a:latin typeface="Calibri"/>
              </a:rPr>
              <a:t>2.  SHAPE matters more than greasiness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472"/>
                </a:solidFill>
                <a:latin typeface="Calibri"/>
              </a:rPr>
              <a:t>flexible tail = less serum loss. Our native tail is rigid &amp; flat → the ‘bad’ zone.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10820095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56A6"/>
                </a:solidFill>
                <a:latin typeface="Calibri"/>
              </a:rPr>
              <a:t>AI-GUIDED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1792"/>
            <a:ext cx="1082009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233A"/>
                </a:solidFill>
                <a:latin typeface="Calibri"/>
              </a:rPr>
              <a:t>We built an AI generator — and validated its scoring on real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16736"/>
            <a:ext cx="1463040" cy="38100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472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hase12_reward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775" y="1508760"/>
            <a:ext cx="5844208" cy="4480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3720" y="1828800"/>
            <a:ext cx="4572000" cy="4206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F56A6"/>
                </a:solidFill>
                <a:latin typeface="Calibri"/>
              </a:rPr>
              <a:t>The AI, done honestly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4233A"/>
                </a:solidFill>
                <a:latin typeface="Calibri"/>
              </a:rPr>
              <a:t>•  An AI generator invents novel, on-scaffold molecules.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4233A"/>
                </a:solidFill>
                <a:latin typeface="Calibri"/>
              </a:rPr>
              <a:t>•  Its ‘good design’ reward was </a:t>
            </a:r>
            <a:r>
              <a:rPr sz="1450" b="1">
                <a:solidFill>
                  <a:srgbClr val="14233A"/>
                </a:solidFill>
                <a:latin typeface="Calibri"/>
              </a:rPr>
              <a:t>checked against real measured data</a:t>
            </a:r>
            <a:r>
              <a:rPr sz="1450" b="0">
                <a:solidFill>
                  <a:srgbClr val="14233A"/>
                </a:solidFill>
                <a:latin typeface="Calibri"/>
              </a:rPr>
              <a:t> (left) before we trusted it.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4233A"/>
                </a:solidFill>
                <a:latin typeface="Calibri"/>
              </a:rPr>
              <a:t>•  It is built to produce a </a:t>
            </a:r>
            <a:r>
              <a:rPr sz="1450" b="1">
                <a:solidFill>
                  <a:srgbClr val="1F8A8A"/>
                </a:solidFill>
                <a:latin typeface="Calibri"/>
              </a:rPr>
              <a:t>discriminating series</a:t>
            </a:r>
            <a:r>
              <a:rPr sz="1450" b="0">
                <a:solidFill>
                  <a:srgbClr val="14233A"/>
                </a:solidFill>
                <a:latin typeface="Calibri"/>
              </a:rPr>
              <a:t> — molecules that TEST the idea, not just assume it.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14233A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 i="1">
                <a:solidFill>
                  <a:srgbClr val="5B6472"/>
                </a:solidFill>
                <a:latin typeface="Calibri"/>
              </a:rPr>
              <a:t>Left: the reward tracks true serum tolerance on the 24 known compounds (a weak-but-real trend, honestly reported).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10820095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56A6"/>
                </a:solidFill>
                <a:latin typeface="Calibri"/>
              </a:rPr>
              <a:t>RESULT · ROUND 1 (DETAIL)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1792"/>
            <a:ext cx="1082009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233A"/>
                </a:solidFill>
                <a:latin typeface="Calibri"/>
              </a:rPr>
              <a:t>AI-designed tails, ranked by the cheap 3-D screen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16736"/>
            <a:ext cx="1463040" cy="38100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472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fig_tail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9759" y="1417320"/>
            <a:ext cx="7392175" cy="4114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85800" y="5806440"/>
            <a:ext cx="10820095" cy="822960"/>
          </a:xfrm>
          <a:prstGeom prst="round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861304"/>
            <a:ext cx="10088575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Only 2 of 12 beat the native tail here — and the accurate re-check (next slide) removed even those.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10820095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56A6"/>
                </a:solidFill>
                <a:latin typeface="Calibri"/>
              </a:rPr>
              <a:t>RESULT · ROUND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1792"/>
            <a:ext cx="1082009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233A"/>
                </a:solidFill>
                <a:latin typeface="Calibri"/>
              </a:rPr>
              <a:t>The quantum funnel caught a false positive before synthesis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16736"/>
            <a:ext cx="1463040" cy="38100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472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fig_roun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0676" y="1463040"/>
            <a:ext cx="7230341" cy="41605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85800" y="5806440"/>
            <a:ext cx="10820095" cy="822960"/>
          </a:xfrm>
          <a:prstGeom prst="round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861304"/>
            <a:ext cx="10088575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The accurate method exposed the cheap method’s ‘winner’ as an artifact — </a:t>
            </a:r>
            <a:r>
              <a:rPr sz="1400" b="0">
                <a:solidFill>
                  <a:srgbClr val="C8D2DC"/>
                </a:solidFill>
                <a:latin typeface="Calibri"/>
              </a:rPr>
              <a:t>caught before any lab time was spent.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10820095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56A6"/>
                </a:solidFill>
                <a:latin typeface="Calibri"/>
              </a:rPr>
              <a:t>THE DELIVERABLE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1792"/>
            <a:ext cx="1082009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233A"/>
                </a:solidFill>
                <a:latin typeface="Calibri"/>
              </a:rPr>
              <a:t>A ranked, easy-to-make shortlist — redirected by the drug lesson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16736"/>
            <a:ext cx="1463040" cy="38100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472"/>
                </a:solidFill>
                <a:latin typeface="Calibri"/>
              </a:rPr>
              <a:t>14</a:t>
            </a:r>
          </a:p>
        </p:txBody>
      </p:sp>
      <p:pic>
        <p:nvPicPr>
          <p:cNvPr id="8" name="Picture 7" descr="fig_tail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39423"/>
            <a:ext cx="6400800" cy="31620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69480" y="1691640"/>
            <a:ext cx="42976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F56A6"/>
                </a:solidFill>
                <a:latin typeface="Calibri"/>
              </a:rPr>
              <a:t>Make first (best bet):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9480" y="2286000"/>
            <a:ext cx="4297680" cy="658368"/>
          </a:xfrm>
          <a:prstGeom prst="roundRect">
            <a:avLst/>
          </a:prstGeom>
          <a:solidFill>
            <a:srgbClr val="E7F4EA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25512" y="2331720"/>
            <a:ext cx="39319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233A"/>
                </a:solidFill>
                <a:latin typeface="Calibri"/>
              </a:rPr>
              <a:t>Palmitoyl (saturated)</a:t>
            </a:r>
            <a:r>
              <a:rPr sz="1250" b="0">
                <a:solidFill>
                  <a:srgbClr val="5B6472"/>
                </a:solidFill>
                <a:latin typeface="Calibri"/>
              </a:rPr>
              <a:t>   ·  cleanest single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3035808"/>
            <a:ext cx="4297680" cy="658368"/>
          </a:xfrm>
          <a:prstGeom prst="roundRect">
            <a:avLst/>
          </a:prstGeom>
          <a:solidFill>
            <a:srgbClr val="E7F4EA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25512" y="3081528"/>
            <a:ext cx="39319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233A"/>
                </a:solidFill>
                <a:latin typeface="Calibri"/>
              </a:rPr>
              <a:t>Branched saturated</a:t>
            </a:r>
            <a:r>
              <a:rPr sz="1250" b="0">
                <a:solidFill>
                  <a:srgbClr val="5B6472"/>
                </a:solidFill>
                <a:latin typeface="Calibri"/>
              </a:rPr>
              <a:t>   ·  caspofungin-like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9480" y="3785616"/>
            <a:ext cx="4297680" cy="658368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1F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25512" y="3831336"/>
            <a:ext cx="39319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233A"/>
                </a:solidFill>
                <a:latin typeface="Calibri"/>
              </a:rPr>
              <a:t>One-kink control</a:t>
            </a:r>
            <a:r>
              <a:rPr sz="1250" b="0">
                <a:solidFill>
                  <a:srgbClr val="5B6472"/>
                </a:solidFill>
                <a:latin typeface="Calibri"/>
              </a:rPr>
              <a:t>   ·  make second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806440"/>
            <a:ext cx="10820095" cy="822960"/>
          </a:xfrm>
          <a:prstGeom prst="round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861304"/>
            <a:ext cx="10088575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8A8A"/>
                </a:solidFill>
                <a:latin typeface="Calibri"/>
              </a:rPr>
              <a:t>Happy coincidence:  </a:t>
            </a:r>
            <a:r>
              <a:rPr sz="1500" b="1">
                <a:solidFill>
                  <a:srgbClr val="FFFFFF"/>
                </a:solidFill>
                <a:latin typeface="Calibri"/>
              </a:rPr>
              <a:t>these are also the EASIEST to synthesize</a:t>
            </a:r>
            <a:r>
              <a:rPr sz="1400" b="0">
                <a:solidFill>
                  <a:srgbClr val="C8D2DC"/>
                </a:solidFill>
                <a:latin typeface="Calibri"/>
              </a:rPr>
              <a:t> — cheap fatty acids, one step. Best science = cheapest chemistry.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10820095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56A6"/>
                </a:solidFill>
                <a:latin typeface="Calibri"/>
              </a:rPr>
              <a:t>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1792"/>
            <a:ext cx="1082009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233A"/>
                </a:solidFill>
                <a:latin typeface="Calibri"/>
              </a:rPr>
              <a:t>What this program delivered — a reusable platform, not a one-off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16736"/>
            <a:ext cx="1463040" cy="38100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472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37360"/>
            <a:ext cx="3454298" cy="1874519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737360"/>
            <a:ext cx="3454298" cy="50800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38528"/>
            <a:ext cx="2997098" cy="150875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33A"/>
                </a:solidFill>
                <a:latin typeface="Calibri"/>
              </a:rPr>
              <a:t>📊  Benchmark dataset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472"/>
                </a:solidFill>
                <a:latin typeface="Calibri"/>
              </a:rPr>
              <a:t>138 compounds, 1,042 records,
full provenance — a field resource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8698" y="1737360"/>
            <a:ext cx="3454298" cy="1874519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68698" y="1737360"/>
            <a:ext cx="3454298" cy="50800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7298" y="1938528"/>
            <a:ext cx="2997098" cy="150875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33A"/>
                </a:solidFill>
                <a:latin typeface="Calibri"/>
              </a:rPr>
              <a:t>🔬  Validated QM method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472"/>
                </a:solidFill>
                <a:latin typeface="Calibri"/>
              </a:rPr>
              <a:t>multi-tier quantum pipeline +
in-house 3-D surface engine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1596" y="1737360"/>
            <a:ext cx="3454298" cy="1874519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51596" y="1737360"/>
            <a:ext cx="3454298" cy="50800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0196" y="1938528"/>
            <a:ext cx="2997098" cy="150875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33A"/>
                </a:solidFill>
                <a:latin typeface="Calibri"/>
              </a:rPr>
              <a:t>🤖  AI molecule generator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472"/>
                </a:solidFill>
                <a:latin typeface="Calibri"/>
              </a:rPr>
              <a:t>novel-structure design with a
reward checked against real 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813047"/>
            <a:ext cx="3454298" cy="1874519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813047"/>
            <a:ext cx="3454298" cy="50800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014215"/>
            <a:ext cx="2997098" cy="150875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33A"/>
                </a:solidFill>
                <a:latin typeface="Calibri"/>
              </a:rPr>
              <a:t>💊  Cross-drug read-across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472"/>
                </a:solidFill>
                <a:latin typeface="Calibri"/>
              </a:rPr>
              <a:t>clinical echinocandin evidence
imported into the design logic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68698" y="3813047"/>
            <a:ext cx="3454298" cy="1874519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68698" y="3813047"/>
            <a:ext cx="3454298" cy="50800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7298" y="4014215"/>
            <a:ext cx="2997098" cy="150875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33A"/>
                </a:solidFill>
                <a:latin typeface="Calibri"/>
              </a:rPr>
              <a:t>⚙️  Reproducible engineering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472"/>
                </a:solidFill>
                <a:latin typeface="Calibri"/>
              </a:rPr>
              <a:t>14 documented stages, automated
tests, cluster run protocols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51596" y="3813047"/>
            <a:ext cx="3454298" cy="1874519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51596" y="3813047"/>
            <a:ext cx="3454298" cy="50800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80196" y="4014215"/>
            <a:ext cx="2997098" cy="150875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33A"/>
                </a:solidFill>
                <a:latin typeface="Calibri"/>
              </a:rPr>
              <a:t>🗺️  Roadmap + shortlist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472"/>
                </a:solidFill>
                <a:latin typeface="Calibri"/>
              </a:rPr>
              <a:t>the exact experiment that
unlocks predictive AI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10820095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56A6"/>
                </a:solidFill>
                <a:latin typeface="Calibri"/>
              </a:rPr>
              <a:t>THE KEY LESSON &amp; THE ROAD 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1792"/>
            <a:ext cx="1082009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233A"/>
                </a:solidFill>
                <a:latin typeface="Calibri"/>
              </a:rPr>
              <a:t>Where AI helps — and the loop that gets us there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16736"/>
            <a:ext cx="1463040" cy="38100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472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91640"/>
            <a:ext cx="10820095" cy="137160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088575" cy="1143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F56A6"/>
                </a:solidFill>
                <a:latin typeface="Calibri"/>
              </a:rPr>
              <a:t>This is NOT “AI failed.”  </a:t>
            </a:r>
            <a:r>
              <a:rPr sz="1500" b="0">
                <a:solidFill>
                  <a:srgbClr val="14233A"/>
                </a:solidFill>
                <a:latin typeface="Calibri"/>
              </a:rPr>
              <a:t>It is a precise statement of the critical path: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4233A"/>
                </a:solidFill>
                <a:latin typeface="Calibri"/>
              </a:rPr>
              <a:t>AI drug design needs a measured ‘answer key’. Physics-based guesses alone were shown — rigorously — to mislead.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E8B57"/>
                </a:solidFill>
                <a:latin typeface="Calibri"/>
              </a:rPr>
              <a:t>We now know exactly which few experiments unlock the AI — and the AI is already built to use them.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749039"/>
            <a:ext cx="2327833" cy="137160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2F5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3749039"/>
            <a:ext cx="109728" cy="1371600"/>
          </a:xfrm>
          <a:prstGeom prst="round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3749039"/>
            <a:ext cx="1962073" cy="1371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4233A"/>
                </a:solidFill>
                <a:latin typeface="Calibri"/>
              </a:rPr>
              <a:t>1.  Synthesize the
4-molecule shortlist</a:t>
            </a:r>
          </a:p>
        </p:txBody>
      </p:sp>
      <p:sp>
        <p:nvSpPr>
          <p:cNvPr id="13" name="Chevron 12"/>
          <p:cNvSpPr/>
          <p:nvPr/>
        </p:nvSpPr>
        <p:spPr>
          <a:xfrm>
            <a:off x="3123361" y="4251959"/>
            <a:ext cx="274320" cy="365760"/>
          </a:xfrm>
          <a:prstGeom prst="chevron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16553" y="3749039"/>
            <a:ext cx="2327833" cy="137160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8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16553" y="3749039"/>
            <a:ext cx="109728" cy="1371600"/>
          </a:xfrm>
          <a:prstGeom prst="roundRect">
            <a:avLst/>
          </a:prstGeom>
          <a:solidFill>
            <a:srgbClr val="D8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2585" y="3749039"/>
            <a:ext cx="1962073" cy="1371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4233A"/>
                </a:solidFill>
                <a:latin typeface="Calibri"/>
              </a:rPr>
              <a:t>2.  Measure serum shift
+ protein binding</a:t>
            </a:r>
          </a:p>
        </p:txBody>
      </p:sp>
      <p:sp>
        <p:nvSpPr>
          <p:cNvPr id="17" name="Chevron 16"/>
          <p:cNvSpPr/>
          <p:nvPr/>
        </p:nvSpPr>
        <p:spPr>
          <a:xfrm>
            <a:off x="5954115" y="4251959"/>
            <a:ext cx="274320" cy="365760"/>
          </a:xfrm>
          <a:prstGeom prst="chevron">
            <a:avLst/>
          </a:prstGeom>
          <a:solidFill>
            <a:srgbClr val="D8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7307" y="3749039"/>
            <a:ext cx="2327833" cy="137160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47307" y="3749039"/>
            <a:ext cx="109728" cy="137160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03339" y="3749039"/>
            <a:ext cx="1962073" cy="1371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4233A"/>
                </a:solidFill>
                <a:latin typeface="Calibri"/>
              </a:rPr>
              <a:t>3.  Train the AI
on the results</a:t>
            </a:r>
          </a:p>
        </p:txBody>
      </p:sp>
      <p:sp>
        <p:nvSpPr>
          <p:cNvPr id="21" name="Chevron 20"/>
          <p:cNvSpPr/>
          <p:nvPr/>
        </p:nvSpPr>
        <p:spPr>
          <a:xfrm>
            <a:off x="8784869" y="4251959"/>
            <a:ext cx="274320" cy="365760"/>
          </a:xfrm>
          <a:prstGeom prst="chevron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78061" y="3749039"/>
            <a:ext cx="2327833" cy="137160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1F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78061" y="3749039"/>
            <a:ext cx="109728" cy="1371600"/>
          </a:xfrm>
          <a:prstGeom prst="round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4093" y="3749039"/>
            <a:ext cx="1962073" cy="1371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4233A"/>
                </a:solidFill>
                <a:latin typeface="Calibri"/>
              </a:rPr>
              <a:t>4.  AI designs
round 2 (wider)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349240"/>
            <a:ext cx="10820095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F8A8A"/>
                </a:solidFill>
                <a:latin typeface="Calibri"/>
              </a:rPr>
              <a:t>↻  A virtuous loop: each round of data makes the AI a better designer.  </a:t>
            </a:r>
            <a:r>
              <a:rPr sz="1350" b="0">
                <a:solidFill>
                  <a:srgbClr val="5B6472"/>
                </a:solidFill>
                <a:latin typeface="Calibri"/>
              </a:rPr>
              <a:t>The immediate next step needs no more computing.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10820095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56A6"/>
                </a:solidFill>
                <a:latin typeface="Calibri"/>
              </a:rPr>
              <a:t>SIGNIFICANCE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1792"/>
            <a:ext cx="1082009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233A"/>
                </a:solidFill>
                <a:latin typeface="Calibri"/>
              </a:rPr>
              <a:t>Why this matters — and the one-line takeaway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16736"/>
            <a:ext cx="1463040" cy="38100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472"/>
                </a:solidFill>
                <a:latin typeface="Calibri"/>
              </a:rPr>
              <a:t>17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746504"/>
            <a:ext cx="146304" cy="146304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91640"/>
            <a:ext cx="1045433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4233A"/>
                </a:solidFill>
                <a:latin typeface="Calibri"/>
              </a:rPr>
              <a:t>Revived a stalled, high-value drug class as a tractable design problem  </a:t>
            </a:r>
            <a:r>
              <a:rPr sz="1300" b="0" i="1">
                <a:solidFill>
                  <a:srgbClr val="5B6472"/>
                </a:solidFill>
                <a:latin typeface="Calibri"/>
              </a:rPr>
              <a:t>— urgent unmet clinical need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313432"/>
            <a:ext cx="146304" cy="146304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258568"/>
            <a:ext cx="1045433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4233A"/>
                </a:solidFill>
                <a:latin typeface="Calibri"/>
              </a:rPr>
              <a:t>Built an end-to-end AI + quantum-chemistry discovery platform  </a:t>
            </a:r>
            <a:r>
              <a:rPr sz="1300" b="0" i="1">
                <a:solidFill>
                  <a:srgbClr val="5B6472"/>
                </a:solidFill>
                <a:latin typeface="Calibri"/>
              </a:rPr>
              <a:t>— reusable across programs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2880360"/>
            <a:ext cx="146304" cy="146304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825496"/>
            <a:ext cx="1045433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4233A"/>
                </a:solidFill>
                <a:latin typeface="Calibri"/>
              </a:rPr>
              <a:t>Demonstrated rigorous self-correction (the ‘honesty ladder’)  </a:t>
            </a:r>
            <a:r>
              <a:rPr sz="1300" b="0" i="1">
                <a:solidFill>
                  <a:srgbClr val="5B6472"/>
                </a:solidFill>
                <a:latin typeface="Calibri"/>
              </a:rPr>
              <a:t>— trustworthy, independent science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447288"/>
            <a:ext cx="146304" cy="146304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392424"/>
            <a:ext cx="1045433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4233A"/>
                </a:solidFill>
                <a:latin typeface="Calibri"/>
              </a:rPr>
              <a:t>Integrated chemistry + machine learning + quantum physics + pharmacology  </a:t>
            </a:r>
            <a:r>
              <a:rPr sz="1300" b="0" i="1">
                <a:solidFill>
                  <a:srgbClr val="5B6472"/>
                </a:solidFill>
                <a:latin typeface="Calibri"/>
              </a:rPr>
              <a:t>— genuinely interdisciplinary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014216"/>
            <a:ext cx="146304" cy="146304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959352"/>
            <a:ext cx="1045433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4233A"/>
                </a:solidFill>
                <a:latin typeface="Calibri"/>
              </a:rPr>
              <a:t>Defined the exact experiment that unlocks predictive AI  </a:t>
            </a:r>
            <a:r>
              <a:rPr sz="1300" b="0" i="1">
                <a:solidFill>
                  <a:srgbClr val="5B6472"/>
                </a:solidFill>
                <a:latin typeface="Calibri"/>
              </a:rPr>
              <a:t>— de-risks future investment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754880"/>
            <a:ext cx="10820095" cy="1371600"/>
          </a:xfrm>
          <a:prstGeom prst="round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892040"/>
            <a:ext cx="9997135" cy="1143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FFFFFF"/>
                </a:solidFill>
                <a:latin typeface="Calibri"/>
              </a:rPr>
              <a:t>“We set out to teach a computer to design a serum-tolerant antifungal. We built the platform, curated the data, imported lessons from approved drugs, and — most importantly — learned to tell a real signal from a flattering illusion.</a:t>
            </a:r>
          </a:p>
          <a:p>
            <a:pPr algn="l">
              <a:spcAft>
                <a:spcPts val="400"/>
              </a:spcAft>
            </a:pPr>
            <a:r>
              <a:rPr sz="1400" b="1" i="1">
                <a:solidFill>
                  <a:srgbClr val="1F8A8A"/>
                </a:solidFill>
                <a:latin typeface="Calibri"/>
              </a:rPr>
              <a:t>The computer is ready; it awaits one clean experiment, designed down to the exact four molecules.”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60704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F8A8A"/>
                </a:solidFill>
                <a:latin typeface="Calibri"/>
              </a:rPr>
              <a:t>Questions &amp; discussion welcome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6070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9CB4D8"/>
                </a:solidFill>
                <a:latin typeface="Calibri"/>
              </a:rPr>
              <a:t>Full technical detail, code, and reproducible reports: project repository (Phases 1–14).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