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walks through a complete computational investigation of the 'serum gap' in</a:t>
            </a:r>
          </a:p>
          <a:p>
            <a:r>
              <a:t>papulacandin/fusacandin-class FKS1 (1,3-beta-glucan synthase) inhibitors: potent antifungals in</a:t>
            </a:r>
          </a:p>
          <a:p>
            <a:r>
              <a:t>buffer that lose activity in serum. Over ten phases I built the dataset, exhausted 2D structure-activity</a:t>
            </a:r>
          </a:p>
          <a:p>
            <a:r>
              <a:t>analysis, designed novel analogs, ran QM conformer ensembles (CREST), computed 3D and electronic</a:t>
            </a:r>
          </a:p>
          <a:p>
            <a:r>
              <a:t>descriptors, and finally docked the compounds to human serum albumin. The honest headline — which I'll</a:t>
            </a:r>
          </a:p>
          <a:p>
            <a:r>
              <a:t>support with figures and statistics throughout — is that no computable descriptor cleanly predicts</a:t>
            </a:r>
          </a:p>
          <a:p>
            <a:r>
              <a:t>serum tolerance on this dataset, but the methods converge on one defensible design direction and, more</a:t>
            </a:r>
          </a:p>
          <a:p>
            <a:r>
              <a:t>importantly, they precisely define what experiment is needed next. Every figure and table here is also</a:t>
            </a:r>
          </a:p>
          <a:p>
            <a:r>
              <a:t>provided as a separate ZIP so you can reuse them independently of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story in one slide. Two things are well-supported. First, raw serum MIC is largely a</a:t>
            </a:r>
          </a:p>
          <a:p>
            <a:r>
              <a:t>restatement of intrinsic potency and size — bigger, more lipophilic, more potent molecules look better in</a:t>
            </a:r>
          </a:p>
          <a:p>
            <a:r>
              <a:t>serum simply because they started better. Second, when you remove that potency confound and look at the</a:t>
            </a:r>
          </a:p>
          <a:p>
            <a:r>
              <a:t>true serum *shift*, the only signal that survives — weakly — is that exposing polar rather than hydrophobic</a:t>
            </a:r>
          </a:p>
          <a:p>
            <a:r>
              <a:t>surface helps. Crucially that same direction shows up independently in 3D shape descriptors (polar SASA) and</a:t>
            </a:r>
          </a:p>
          <a:p>
            <a:r>
              <a:t>in quantum-chemical solvation descriptors (a QM logP), which is more convincing than any single number.</a:t>
            </a:r>
          </a:p>
          <a:p>
            <a:r>
              <a:t>Equally valuable are the clean negatives: I falsified the original rigidity hypothesis, showed the early</a:t>
            </a:r>
          </a:p>
          <a:p>
            <a:r>
              <a:t>hydrophobic-SASA result was an artifact of intrinsic potency, and found explicit albumin docking gives nothing.</a:t>
            </a:r>
          </a:p>
          <a:p>
            <a:r>
              <a:t>None of the descriptors reach statistical significance, and I'll show that this is a hard ceiling imposed by a</a:t>
            </a:r>
          </a:p>
          <a:p>
            <a:r>
              <a:t>small, heavily-censored dataset — which is exactly why the recommendation at the end is an experiment, not</a:t>
            </a:r>
          </a:p>
          <a:p>
            <a:r>
              <a:t>another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deck follows the actual research arc. We start with why these molecules matter and define the serum gap</a:t>
            </a:r>
          </a:p>
          <a:p>
            <a:r>
              <a:t>quantitatively. Phases 1–4 are the classical 2D and machine-learning attempts and establish the baseline to</a:t>
            </a:r>
          </a:p>
          <a:p>
            <a:r>
              <a:t>beat. Phases 5–6 build novel candidates and the quantum-mechanical infrastructure. Phases 7–10 are the heart:</a:t>
            </a:r>
          </a:p>
          <a:p>
            <a:r>
              <a:t>a 3D retrospective that looked promising then failed a confound test, electronic descriptors that corroborated</a:t>
            </a:r>
          </a:p>
          <a:p>
            <a:r>
              <a:t>a weak lead, and a direct docking test of the albumin-sequestration mechanism. We close with the synthesis and</a:t>
            </a:r>
          </a:p>
          <a:p>
            <a:r>
              <a:t>detailed, prioritized guidance for follow-on work. I'll flag the single most important slide — the Phase-8</a:t>
            </a:r>
          </a:p>
          <a:p>
            <a:r>
              <a:t>confound analysis — when we reach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for why this is worth a ten-phase effort. Invasive fungal disease is a large and growing cause of death,</a:t>
            </a:r>
          </a:p>
          <a:p>
            <a:r>
              <a:t>and the echinocandin drugs that hit the FKS1 glucan-synthase target are one of only a few usable classes, so</a:t>
            </a:r>
          </a:p>
          <a:p>
            <a:r>
              <a:t>new chemotypes against the same target are valuable. Papulacandins and fusacandins are a structurally distinct,</a:t>
            </a:r>
          </a:p>
          <a:p>
            <a:r>
              <a:t>non-peptide glycolipid class that inhibit FKS1 well — but they suffer the 'serum gap': strong activity in buffer</a:t>
            </a:r>
          </a:p>
          <a:p>
            <a:r>
              <a:t>that largely disappears in serum, presumably because serum proteins bind and sequester the drug. The number to</a:t>
            </a:r>
          </a:p>
          <a:p>
            <a:r>
              <a:t>anchor on is Papulacandin B: about 1.7 micromolar without serum, about 111 with serum, a ~64-fold loss. A minority</a:t>
            </a:r>
          </a:p>
          <a:p>
            <a:r>
              <a:t>of analogs buck this trend and stay active in serum; because they're so few, they carry essentially all of the</a:t>
            </a:r>
          </a:p>
          <a:p>
            <a:r>
              <a:t>structure-activity information. The project's goal was to turn those few positives into a predictive, computable</a:t>
            </a:r>
          </a:p>
          <a:p>
            <a:r>
              <a:t>design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foundation everything rests on, and its limitations explain every result that follows. We have 24</a:t>
            </a:r>
          </a:p>
          <a:p>
            <a:r>
              <a:t>compounds for which both a serum-free and a serum whole-cell MIC against Candida albicans exist — mostly the</a:t>
            </a:r>
          </a:p>
          <a:p>
            <a:r>
              <a:t>Yeung 1996 fusacandin C-6-prime ester series, plus the reference natural products. The table shows the first 11;</a:t>
            </a:r>
          </a:p>
          <a:p>
            <a:r>
              <a:t>the full file is in the asset pack. Two features dominate the statistics. First, 11 of 24 serum MICs are</a:t>
            </a:r>
          </a:p>
          <a:p>
            <a:r>
              <a:t>right-censored at 100 — the assay simply reports '&gt;100' or '=100' — and the measured values are tied on only four</a:t>
            </a:r>
          </a:p>
          <a:p>
            <a:r>
              <a:t>levels, so any rank correlation is built on heavy ties and has a low ceiling. Second, throughout the project I use</a:t>
            </a:r>
          </a:p>
          <a:p>
            <a:r>
              <a:t>two endpoints: the raw serum MIC, and the serum *shift fold* (serum divided by serum-free), which removes intrinsic</a:t>
            </a:r>
          </a:p>
          <a:p>
            <a:r>
              <a:t>potency and is the cleaner measure of true serum tolerance. Keep the censoring in mind — it is the reason nothing</a:t>
            </a:r>
          </a:p>
          <a:p>
            <a:r>
              <a:t>reaches significance later, no matter how good the descriptor.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philosophy is a funnel: start with cheap, broad descriptors and only escalate to expensive quantum</a:t>
            </a:r>
          </a:p>
          <a:p>
            <a:r>
              <a:t>chemistry where it's justified. Tier 1 is classical 2D medicinal-chemistry descriptors. Tier 2 is machine learning,</a:t>
            </a:r>
          </a:p>
          <a:p>
            <a:r>
              <a:t>both an external FKS-inhibitor model and a within-series serum model. Tier 3 is generative design to produce novel</a:t>
            </a:r>
          </a:p>
          <a:p>
            <a:r>
              <a:t>analogs. Tier 4 moves to true three-dimensional, conformer-ensemble descriptors computed from CREST quantum</a:t>
            </a:r>
          </a:p>
          <a:p>
            <a:r>
              <a:t>conformational searches — solvent-accessible surface area split into hydrophobic and polar, plus shape. Tier 5 adds</a:t>
            </a:r>
          </a:p>
          <a:p>
            <a:r>
              <a:t>electronic and solvation descriptors from semi-empirical quantum chemistry. Tier 6 tests the mechanism directly by</a:t>
            </a:r>
          </a:p>
          <a:p>
            <a:r>
              <a:t>docking to albumin. A key methodological lesson, which we'll see concretely in Phases 7 and 8, is that the cheap</a:t>
            </a:r>
          </a:p>
          <a:p>
            <a:r>
              <a:t>tiers can produce false leads, and the expensive QM tier is what catches them — so the funnel is as much about</a:t>
            </a:r>
          </a:p>
          <a:p>
            <a:r>
              <a:t>discipline as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is the first SAR pass. Splitting the 24 compounds into serum-tolerant and serum-killed and comparing</a:t>
            </a:r>
          </a:p>
          <a:p>
            <a:r>
              <a:t>2D descriptors, the cleanest separators are molecular weight (tolerant compounds are heavier) and fraction sp3</a:t>
            </a:r>
          </a:p>
          <a:p>
            <a:r>
              <a:t>carbon (tolerant compounds are less sp3, i.e. more aromatic/rigid), each significant at p≈0.002–0.003 by both</a:t>
            </a:r>
          </a:p>
          <a:p>
            <a:r>
              <a:t>Spearman and Mann-Whitney. Importantly, clogP — the obvious lipophilicity descriptor you'd expect to drive serum</a:t>
            </a:r>
          </a:p>
          <a:p>
            <a:r>
              <a:t>protein binding — does NOT separate the groups. That is the first hint that the naive 'lipophilic compounds get</a:t>
            </a:r>
          </a:p>
          <a:p>
            <a:r>
              <a:t>sequestered' story is too simple. This motivated the original working hypothesis: rigid aromatic character, rather</a:t>
            </a:r>
          </a:p>
          <a:p>
            <a:r>
              <a:t>than bulk lipophilicity, tracks serum tolerance. Note the caveat that will recur — this is one chemical series and</a:t>
            </a:r>
          </a:p>
          <a:p>
            <a:r>
              <a:t>n=24, so these are hypotheses, not laws. The boxplots here are in the asset pack as phase1_descriptor_boxplots.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Phase-1 numbers in full. Reading down the Spearman and Mann-Whitney p-value columns, only molecular</a:t>
            </a:r>
          </a:p>
          <a:p>
            <a:r>
              <a:t>weight and fraction-sp3 clear significance; hydrogen-bond acceptors and TPSA are borderline; and clogP, HBD count,</a:t>
            </a:r>
          </a:p>
          <a:p>
            <a:r>
              <a:t>and rotatable-bond count are flat. The medians make the direction concrete: tolerant compounds are ~56 Da heavier</a:t>
            </a:r>
          </a:p>
          <a:p>
            <a:r>
              <a:t>and notably less sp3. The practical message is that the discriminating signal, such as it is, lives in size and</a:t>
            </a:r>
          </a:p>
          <a:p>
            <a:r>
              <a:t>aromatic rigidity — not in the lipophilicity or flexibility descriptors a medicinal chemist would reach for first.</a:t>
            </a:r>
          </a:p>
          <a:p>
            <a:r>
              <a:t>This table is phase1_descriptor_stats in the asset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asks a diagnostic question: at which step does activity disappear? By assembling a per-compound ladder —</a:t>
            </a:r>
          </a:p>
          <a:p>
            <a:r>
              <a:t>purified FKS1 enzyme inhibition, then serum-free whole-cell MIC, then serum whole-cell MIC — we see that the</a:t>
            </a:r>
          </a:p>
          <a:p>
            <a:r>
              <a:t>compounds are potent on the enzyme and on serum-free cells, and only collapse at the serum step. That cleanly</a:t>
            </a:r>
          </a:p>
          <a:p>
            <a:r>
              <a:t>localizes the serum gap: it is not a target-affinity problem and not a cell-entry problem, it is specifically a</a:t>
            </a:r>
          </a:p>
          <a:p>
            <a:r>
              <a:t>serum-exposure problem, consistent with serum-protein sequestration reducing free drug. This is what justifies</a:t>
            </a:r>
          </a:p>
          <a:p>
            <a:r>
              <a:t>spending the rest of the project on serum-binding-related descriptors rather than on potency or permeability. The</a:t>
            </a:r>
          </a:p>
          <a:p>
            <a:r>
              <a:t>attrition and activity-ladder figures (phase2_attrition, phase2_ladder_anchors) are in the asset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3A tests whether an existing, externally-trained FKS-inhibitor machine-learning model can rank our compounds.</a:t>
            </a:r>
          </a:p>
          <a:p>
            <a:r>
              <a:t>The cross-validated AUC looks spectacular at 0.997, but that is on a trivial actives-versus-decoys split and is not</a:t>
            </a:r>
          </a:p>
          <a:p>
            <a:r>
              <a:t>meaningful for our question. When we project the papulacandins into the model's descriptor space — the chemical-space</a:t>
            </a:r>
          </a:p>
          <a:p>
            <a:r>
              <a:t>map shown here — they sit outside the training distribution and all score low (≤0.39). The honest conclusion is a</a:t>
            </a:r>
          </a:p>
          <a:p>
            <a:r>
              <a:t>negative: the external model is out of domain for this chemotype and should be used only as a chemical-space reference,</a:t>
            </a:r>
          </a:p>
          <a:p>
            <a:r>
              <a:t>not as a serum or activity predictor. I'm including the negative deliberately, because knowing a tool does NOT apply</a:t>
            </a:r>
          </a:p>
          <a:p>
            <a:r>
              <a:t>saved us from over-trusting it. Figures: fig_phase3a_chemspace, fig_phase3a_cv_bars, fig_phase3a_score_dist.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3B builds a model specifically for serum MIC within the fusacandin series. In-sample it correlates at Spearman</a:t>
            </a:r>
          </a:p>
          <a:p>
            <a:r>
              <a:t>0.65, which is tempting — but the honest test is leave-one-out cross-validation, and there the correlation collapses</a:t>
            </a:r>
          </a:p>
          <a:p>
            <a:r>
              <a:t>to 0.14, not significant. The gap between in-sample 0.65 and leave-one-out 0.14 is textbook small-sample optimism:</a:t>
            </a:r>
          </a:p>
          <a:p>
            <a:r>
              <a:t>with 24 compounds and many descriptors, a model can memorize but not generalize. The optimism figure quantifies that</a:t>
            </a:r>
          </a:p>
          <a:p>
            <a:r>
              <a:t>shrinkage. The verdict is that we cannot yet build a predictive serum model from this data — not because the chemistry</a:t>
            </a:r>
          </a:p>
          <a:p>
            <a:r>
              <a:t>is unlearnable, but because the dataset is too small and too censored. This is the moment the project pivots from</a:t>
            </a:r>
          </a:p>
          <a:p>
            <a:r>
              <a:t>fitting models to understanding mechanism with physics-based descriptors. Figures: fig_phase3b_coeffs,</a:t>
            </a:r>
          </a:p>
          <a:p>
            <a:r>
              <a:t>fig_phase3b_optimism, phase3b_pred_vs_obs.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consolidates the modeling phases. Phase 1 gave a hypothesis — rigid-aromatic character tracks tolerance,</a:t>
            </a:r>
          </a:p>
          <a:p>
            <a:r>
              <a:t>clogP doesn't — caveated by n=24 and one series. Phase 2 gave a robust per-compound ladder localizing failure to the</a:t>
            </a:r>
          </a:p>
          <a:p>
            <a:r>
              <a:t>serum step. Phase 3A was an honest negative: the external FKS model is out of domain. Phase 3B was data-limited:</a:t>
            </a:r>
          </a:p>
          <a:p>
            <a:r>
              <a:t>in-sample 0.65 but leave-one-out 0.14. The throughline is that classical 2D and ML approaches extract a weak hypothesis</a:t>
            </a:r>
          </a:p>
          <a:p>
            <a:r>
              <a:t>but no predictive model, and they keep pointing at the same ceiling — the data. That is the explicit justification for</a:t>
            </a:r>
          </a:p>
          <a:p>
            <a:r>
              <a:t>escalating to the quantum-mechanical 3D descriptors in the later phases. This is table_phase3_summary in the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 turns the positives into design guidance. The 13 serum-active analogs are the only positive examples we have,</a:t>
            </a:r>
          </a:p>
          <a:p>
            <a:r>
              <a:t>so they are the SAR anchors. The best of them — fusacandin analogs 6j, 6k, 6n, 6o, 6p, all at serum MIC 12.5 — share</a:t>
            </a:r>
          </a:p>
          <a:p>
            <a:r>
              <a:t>an extended biphenyl or terphenyl aromatic ester at the C-6-prime position. From these I distilled an interpretable,</a:t>
            </a:r>
          </a:p>
          <a:p>
            <a:r>
              <a:t>source-attributed 'design-rule score' rewarding rigid extended aromatics plus a polar handle, deliberately transparent</a:t>
            </a:r>
          </a:p>
          <a:p>
            <a:r>
              <a:t>rather than a black box so a chemist can see why a compound scores well. This score becomes the 2D baseline that the</a:t>
            </a:r>
          </a:p>
          <a:p>
            <a:r>
              <a:t>later 3D work has to beat. Figure fig_phase4_existing_leads and tables table_phase4_existing_leads /</a:t>
            </a:r>
          </a:p>
          <a:p>
            <a:r>
              <a:t>table_phase4_candidate_ranking are in the pack; the rules themselves are in design_rules.md.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closer look at the leads. Every top serum-tolerant analog carries an extended aromatic ester at C-6-prime —</a:t>
            </a:r>
          </a:p>
          <a:p>
            <a:r>
              <a:t>biphenyl, terphenyl, alkoxy-biphenyl variants — on the conserved fusacandin core, and they all start from the same</a:t>
            </a:r>
          </a:p>
          <a:p>
            <a:r>
              <a:t>strong serum-free MIC of 0.78. The 'shift' column is the fold loss in serum; the best leads still shift 16-fold but</a:t>
            </a:r>
          </a:p>
          <a:p>
            <a:r>
              <a:t>retain usable serum activity because they began so potent. This table previews a theme that becomes decisive in</a:t>
            </a:r>
          </a:p>
          <a:p>
            <a:r>
              <a:t>Phase 8: because the conserved core is identical across analogs, the serum differences must come from this variable</a:t>
            </a:r>
          </a:p>
          <a:p>
            <a:r>
              <a:t>C-6-prime group, and the leads are simultaneously the most potent and the most serum-tolerant — a confound we will</a:t>
            </a:r>
          </a:p>
          <a:p>
            <a:r>
              <a:t>have to disentangle. Table: table_phase4_existing_leads.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number to remember: the best 2D design-rule score correlates with observed serum MIC at Spearman 0.32,</a:t>
            </a:r>
          </a:p>
          <a:p>
            <a:r>
              <a:t>not significant. This is the baseline every subsequent, more expensive descriptor has to beat to justify itself.</a:t>
            </a:r>
          </a:p>
          <a:p>
            <a:r>
              <a:t>It also frames the central tension of the project — 2D is weakly suggestive but not predictive — and motivates the</a:t>
            </a:r>
          </a:p>
          <a:p>
            <a:r>
              <a:t>generative and quantum-mechanical work. Whenever you see a rho on a later slide, compare it back to this 0.32.</a:t>
            </a:r>
          </a:p>
          <a:p>
            <a:r>
              <a:t>Figure: phase5_retrospective.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5 designs new molecules. Using the validated chemistry — cleaving the aromatic C-6-prime ester and</a:t>
            </a:r>
          </a:p>
          <a:p>
            <a:r>
              <a:t>re-esterifying with new acyl groups, verified by InChIKey round-trip — I generated a virtual library from 37 acyl</a:t>
            </a:r>
          </a:p>
          <a:p>
            <a:r>
              <a:t>fragments, both data-derived and rationally designed (rigid aromatics, some with polar handles). Each candidate is</a:t>
            </a:r>
          </a:p>
          <a:p>
            <a:r>
              <a:t>scored by a transparent multi-objective function: drug-likeness (QED), synthetic accessibility, the Phase-1 design</a:t>
            </a:r>
          </a:p>
          <a:p>
            <a:r>
              <a:t>rules, and novelty versus known compounds. Deliberately, there is NO learned activity predictor in the loop — with</a:t>
            </a:r>
          </a:p>
          <a:p>
            <a:r>
              <a:t>24 noisy datapoints that would be dishonest. Twelve novel candidates advanced to the QM funnel. The score</a:t>
            </a:r>
          </a:p>
          <a:p>
            <a:r>
              <a:t>distributions are shown here; the full 30-row library is phase5_virtual_library in the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short but important cheminformatics result. Every one of the 30 designed analogs has a near-zero QED and fails</a:t>
            </a:r>
          </a:p>
          <a:p>
            <a:r>
              <a:t>Lipinski's Rule of Five — these are 'beyond-Rule-of-5' molecules, the same category as cyclosporine and other large</a:t>
            </a:r>
          </a:p>
          <a:p>
            <a:r>
              <a:t>natural-product-like therapeutics. The practical consequence is that standard 2D drug-likeness metrics are saturated:</a:t>
            </a:r>
          </a:p>
          <a:p>
            <a:r>
              <a:t>they rate every compound in this chemotype as equally 'undruglike,' so they carry no discriminating information within</a:t>
            </a:r>
          </a:p>
          <a:p>
            <a:r>
              <a:t>the series. This isn't a flaw in the molecules; it's a flaw in applying small-molecule heuristics to a large-molecule</a:t>
            </a:r>
          </a:p>
          <a:p>
            <a:r>
              <a:t>class. It is the formal justification for the entire second half of the project: if 2D descriptors cannot even tell</a:t>
            </a:r>
          </a:p>
          <a:p>
            <a:r>
              <a:t>these molecules apart, then any real signal must live in their three-dimensional shape and electronics, which is what</a:t>
            </a:r>
          </a:p>
          <a:p>
            <a:r>
              <a:t>the QM funnel computes.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6 is the engineering that makes the 3D analysis possible. For each compound we run a CREST quantum</a:t>
            </a:r>
          </a:p>
          <a:p>
            <a:r>
              <a:t>conformational search to get a realistic Boltzmann ensemble of hundreds of conformers in implicit water, then compute</a:t>
            </a:r>
          </a:p>
          <a:p>
            <a:r>
              <a:t>descriptors on the whole ensemble rather than a single guessed structure. The central descriptor is solvent-accessible</a:t>
            </a:r>
          </a:p>
          <a:p>
            <a:r>
              <a:t>surface area, computed with an in-house vectorized Shrake-Rupley algorithm so there's no fragile external dependency,</a:t>
            </a:r>
          </a:p>
          <a:p>
            <a:r>
              <a:t>and crucially split into hydrophobic versus polar exposed surface — that split is the physically-motivated proxy for</a:t>
            </a:r>
          </a:p>
          <a:p>
            <a:r>
              <a:t>serum-protein binding. We also compute the ensemble spread of hydrophobic SASA as a true 3D flexibility metric, plus</a:t>
            </a:r>
          </a:p>
          <a:p>
            <a:r>
              <a:t>radius of gyration and asphericity for shape, and we generate Gaussian DFT inputs for the populated conformers to get</a:t>
            </a:r>
          </a:p>
          <a:p>
            <a:r>
              <a:t>electrostatics later. The pipeline was self-tested end to end on synthetic ensembles before any real cluster data</a:t>
            </a:r>
          </a:p>
          <a:p>
            <a:r>
              <a:t>arrived. The 12-candidate descriptor table is phase6_qm_descriptors in the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7 is the first apparent win. Before committing expensive cluster CREST time, I ran a fast proxy — RDKit MMFF</a:t>
            </a:r>
          </a:p>
          <a:p>
            <a:r>
              <a:t>conformer ensembles — on the 24 known compounds and computed the same hydrophobic-SASA descriptor. It correlates with</a:t>
            </a:r>
          </a:p>
          <a:p>
            <a:r>
              <a:t>serum MIC at Spearman −0.45, p=0.029: the first descriptor in the whole project to beat the 2D baseline of 0.32 and to</a:t>
            </a:r>
          </a:p>
          <a:p>
            <a:r>
              <a:t>reach significance. The negative sign means more exposed hydrophobic surface goes with lower (better) serum MIC, which</a:t>
            </a:r>
          </a:p>
          <a:p>
            <a:r>
              <a:t>at face value is a real, usable lead. This was promising enough to justify running the real quantum CREST ensembles to</a:t>
            </a:r>
          </a:p>
          <a:p>
            <a:r>
              <a:t>confirm it. But I want to flag that I marked it as provisional at the time precisely because MMFF is a proxy — and the</a:t>
            </a:r>
          </a:p>
          <a:p>
            <a:r>
              <a:t>next slide shows why that caution mattered. Figure: phase7_retrospective_qm.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8 runs the real quantum CREST ensembles and re-tests Phase 7. The hydrophobic-SASA correlation weakens from</a:t>
            </a:r>
          </a:p>
          <a:p>
            <a:r>
              <a:t>−0.45 to −0.31 and loses significance (p=0.14). The rigidity metric — the ensemble spread of hydrophobic SASA, which</a:t>
            </a:r>
          </a:p>
          <a:p>
            <a:r>
              <a:t>was the original Phase-1 hypothesis operationalized in 3D — is essentially flat. So with better physics the headline</a:t>
            </a:r>
          </a:p>
          <a:p>
            <a:r>
              <a:t>lead shrinks. The first lesson is methodological and general: a promising result from cheap proxy conformers must be</a:t>
            </a:r>
          </a:p>
          <a:p>
            <a:r>
              <a:t>confirmed with real QM, because the proxy systematically overstated the effect. But the more important result is on</a:t>
            </a:r>
          </a:p>
          <a:p>
            <a:r>
              <a:t>the next slide — it isn't just that the number got smaller; it's WHY, and that turns out to invalidate the lead</a:t>
            </a:r>
          </a:p>
          <a:p>
            <a:r>
              <a:t>entirely. Figure: phase8_retrospective_crest.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 in the deck — the star marks it. The question: is the hydrophobic-SASA</a:t>
            </a:r>
          </a:p>
          <a:p>
            <a:r>
              <a:t>signal real, or is it just intrinsic potency in disguise? First fact: serum-free MIC by itself predicts serum MIC at</a:t>
            </a:r>
          </a:p>
          <a:p>
            <a:r>
              <a:t>Spearman 0.79 — so most of what 'predicts serum MIC' is simply how potent the compound was to begin with, carried</a:t>
            </a:r>
          </a:p>
          <a:p>
            <a:r>
              <a:t>through. Second, when you compute the PARTIAL correlation of hydrophobic SASA with serum MIC while controlling for</a:t>
            </a:r>
          </a:p>
          <a:p>
            <a:r>
              <a:t>serum-free potency, it collapses from −0.31 to +0.02 — statistically nothing. In other words, the entire Phase-7 lead</a:t>
            </a:r>
          </a:p>
          <a:p>
            <a:r>
              <a:t>was a potency artifact: bigger, more hydrophobic molecules happened to be more potent, and that potency, not any</a:t>
            </a:r>
          </a:p>
          <a:p>
            <a:r>
              <a:t>serum-specific property, drove the correlation. The one descriptor that survives and points the mechanistically</a:t>
            </a:r>
          </a:p>
          <a:p>
            <a:r>
              <a:t>sensible way is POLAR SASA against the pure serum shift, at −0.33 (p=0.12): more polar exposed surface, less serum</a:t>
            </a:r>
          </a:p>
          <a:p>
            <a:r>
              <a:t>loss. It's not significant, but it is real-direction and not a potency artifact, so it becomes the lead we carry</a:t>
            </a:r>
          </a:p>
          <a:p>
            <a:r>
              <a:t>forward. Table: phase8_confound_analysis.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methodological aside that doubles as quality control. For the three design finalists I re-ranked the cheap GFN-FF</a:t>
            </a:r>
          </a:p>
          <a:p>
            <a:r>
              <a:t>conformer ensembles at the more accurate GFN2 level. The populations shifted materially — most strikingly cand02,</a:t>
            </a:r>
          </a:p>
          <a:p>
            <a:r>
              <a:t>where a flat, many-conformer GFN-FF picture collapsed to a single dominant GFN2 conformer at 68% population. The</a:t>
            </a:r>
          </a:p>
          <a:p>
            <a:r>
              <a:t>practical point: if we had generated the expensive DFT single points from the GFN-FF populations, we'd have computed</a:t>
            </a:r>
          </a:p>
          <a:p>
            <a:r>
              <a:t>electronics on the wrong conformers. This validates the funnel discipline of refining conformer energies before the</a:t>
            </a:r>
          </a:p>
          <a:p>
            <a:r>
              <a:t>most expensive step, and it's why the finalist DFT inputs were regenerated from GFN2. Table: phase8b_gfnff_vs_gfn2.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9 adds the electronics the shape descriptors miss, via cheap GFN2-xTB single points in water and octanol — about</a:t>
            </a:r>
          </a:p>
          <a:p>
            <a:r>
              <a:t>200 calculations. Two results. First, molecular polarizability is the single largest raw correlate of serum MIC in the</a:t>
            </a:r>
          </a:p>
          <a:p>
            <a:r>
              <a:t>whole project at −0.54, p=0.01 — but it is a size descriptor in disguise: it tracks radius of gyration and intrinsic</a:t>
            </a:r>
          </a:p>
          <a:p>
            <a:r>
              <a:t>potency, and against the pure serum shift it is zero. So like hydrophobic SASA before it, it's a potency/size echo, not</a:t>
            </a:r>
          </a:p>
          <a:p>
            <a:r>
              <a:t>a tolerance handle. Second, and more interesting, a quantum logP computed from the water/octanol solvation free-energy</a:t>
            </a:r>
          </a:p>
          <a:p>
            <a:r>
              <a:t>difference correlates with hydrophobic SASA at 0.76 — the electronic and shape pictures are measuring the same physical</a:t>
            </a:r>
          </a:p>
          <a:p>
            <a:r>
              <a:t>thing — and gives a serum-shift correlation of +0.30: more hydrophobic, worse tolerance. That mirrors the Phase-8 polar-</a:t>
            </a:r>
          </a:p>
          <a:p>
            <a:r>
              <a:t>SASA lead of −0.33 in both direction and magnitude. So two independent descriptor families now converge on the same</a:t>
            </a:r>
          </a:p>
          <a:p>
            <a:r>
              <a:t>qualitative rule, even though neither is individually significant. Figure: phase9_electronic; stats:</a:t>
            </a:r>
          </a:p>
          <a:p>
            <a:r>
              <a:t>phase9_electronic_stats.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Phase-9 numbers in full. Scan the last two columns — correlation with the potency-independent serum shift — because</a:t>
            </a:r>
          </a:p>
          <a:p>
            <a:r>
              <a:t>that's the endpoint that matters. logP_xtb is the standout there at +0.30 in the expected direction. Polarizability,</a:t>
            </a:r>
          </a:p>
          <a:p>
            <a:r>
              <a:t>despite being the biggest number against raw serum MIC (−0.54), is essentially zero against the shift, confirming it as</a:t>
            </a:r>
          </a:p>
          <a:p>
            <a:r>
              <a:t>a size/potency proxy. Dipole points weakly the right way; solvation free energy and HOMO-LUMO gap are flat. The</a:t>
            </a:r>
          </a:p>
          <a:p>
            <a:r>
              <a:t>consistent message with Phase 8 is the convergence on the hydrophobic/polar-surface axis. Table: phase9_electronic_stats;</a:t>
            </a:r>
          </a:p>
          <a:p>
            <a:r>
              <a:t>the per-compound descriptor values are phase9_electronic_descriptors.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10 tests the mechanism head-on by docking every compound to human serum albumin. First I had to establish a valid</a:t>
            </a:r>
          </a:p>
          <a:p>
            <a:r>
              <a:t>method: these are 1000–1200 Da glycolipids with about 38 rotatable bonds. Rigid docking into a drug pocket clashes badly</a:t>
            </a:r>
          </a:p>
          <a:p>
            <a:r>
              <a:t>(the ligand is far bigger than the pocket), and fully flexible docking at 38 torsions is both intractable and unreliable.</a:t>
            </a:r>
          </a:p>
          <a:p>
            <a:r>
              <a:t>So I used rigid ensemble surface docking — rigid albumin, our real QM conformers kept rigid, large boxes over both Sudlow</a:t>
            </a:r>
          </a:p>
          <a:p>
            <a:r>
              <a:t>drug sites, best score over conformers and sites. The result is a clean null: HSA binding does not predict the serum shift</a:t>
            </a:r>
          </a:p>
          <a:p>
            <a:r>
              <a:t>(rho=+0.22, p=0.30), and the sign is if anything opposite to what sequestration predicts. Reassuringly the score is not</a:t>
            </a:r>
          </a:p>
          <a:p>
            <a:r>
              <a:t>just a size proxy, so the docking captured real surface association — it simply doesn't track tolerance. The honest caveat:</a:t>
            </a:r>
          </a:p>
          <a:p>
            <a:r>
              <a:t>Vina's scoring function isn't parameterized for amphiphiles this large, and we modeled only the drug sites, not the fatty-</a:t>
            </a:r>
          </a:p>
          <a:p>
            <a:r>
              <a:t>acid sites these lipid-tailed molecules might actually use — so a null here cannot exclude albumin sequestration; it points</a:t>
            </a:r>
          </a:p>
          <a:p>
            <a:r>
              <a:t>to an experimental binding assay. Figure: phase10_hsa.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project on one slide. Read top to bottom: 2D descriptors gave the 0.32 baseline; the within-series ML model</a:t>
            </a:r>
          </a:p>
          <a:p>
            <a:r>
              <a:t>over-fit to a leave-one-out 0.14; the 3D hydrophobic-SASA lead looked good at −0.45 but shrank to −0.31 and then proved</a:t>
            </a:r>
          </a:p>
          <a:p>
            <a:r>
              <a:t>to be a potency artifact under the confound test; the rigidity hypothesis was falsified; polar SASA against the serum</a:t>
            </a:r>
          </a:p>
          <a:p>
            <a:r>
              <a:t>shift survived as a −0.33 directional lead; quantum polarizability was a big-but-empty size proxy; quantum logP</a:t>
            </a:r>
          </a:p>
          <a:p>
            <a:r>
              <a:t>independently corroborated the polar lead at +0.30; and explicit albumin docking was null. The shape of the table is the</a:t>
            </a:r>
          </a:p>
          <a:p>
            <a:r>
              <a:t>result: every method agrees that raw serum potency is a size/potency story, and the only thing pointing at genuine serum</a:t>
            </a:r>
          </a:p>
          <a:p>
            <a:r>
              <a:t>tolerance — across two independent descriptor families — is exposing polar rather than hydrophobic surface, never quite</a:t>
            </a:r>
          </a:p>
          <a:p>
            <a:r>
              <a:t>reaching significance. That convergence, plus the clean negatives, is the scientific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take one actionable idea from the project, it is this. Among compounds of similar intrinsic potency, biasing the</a:t>
            </a:r>
          </a:p>
          <a:p>
            <a:r>
              <a:t>molecule's exposed surface toward polar, hydrogen-bonding character — rather than hydrophobic surface — is associated with</a:t>
            </a:r>
          </a:p>
          <a:p>
            <a:r>
              <a:t>less activity lost in serum. This is supported by polar SASA at −0.33 against the shift, a quantum logP at +0.30 in the</a:t>
            </a:r>
          </a:p>
          <a:p>
            <a:r>
              <a:t>same direction, and a weakly-aligned dipole, i.e. two physically independent descriptor families agreeing. I'm careful to</a:t>
            </a:r>
          </a:p>
          <a:p>
            <a:r>
              <a:t>call it a directional design hypothesis, not a validated predictor, because the effect size is modest and the p-values are</a:t>
            </a:r>
          </a:p>
          <a:p>
            <a:r>
              <a:t>around 0.12–0.15. Concretely, for the variable C-6-prime aroyl group, it argues for adding polar or H-bonding substituents</a:t>
            </a:r>
          </a:p>
          <a:p>
            <a:r>
              <a:t>rather than simply extending rigid aromatic bulk. It's the kind of hypothesis a focused synthetic series could confirm or</a:t>
            </a:r>
          </a:p>
          <a:p>
            <a:r>
              <a:t>kill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Negative results are results, and these are hard-won. One: raw serum MIC is the wrong thing to optimize because it's</a:t>
            </a:r>
          </a:p>
          <a:p>
            <a:r>
              <a:t>~80% intrinsic potency; always model the serum shift or covary out potency. Two: the original rigidity hypothesis that</a:t>
            </a:r>
          </a:p>
          <a:p>
            <a:r>
              <a:t>launched the project does not survive 3D testing. Three: every bulk size/lipophilicity descriptor — clogP, radius of</a:t>
            </a:r>
          </a:p>
          <a:p>
            <a:r>
              <a:t>gyration, polarizability — tracks potency rather than tolerance, and the seductive Phase-7 hydrophobic-SASA result was</a:t>
            </a:r>
          </a:p>
          <a:p>
            <a:r>
              <a:t>specifically shown to be a potency artifact. Four: explicit docking to albumin's drug sites carries no signal, though we</a:t>
            </a:r>
          </a:p>
          <a:p>
            <a:r>
              <a:t>'re honest that the method can't fully exclude the mechanism. Five, methodological: cheap proxy conformer ensembles</a:t>
            </a:r>
          </a:p>
          <a:p>
            <a:r>
              <a:t>overstate effects, so only QM-ensemble numbers should be trusted. Collectively these stop a future team from wasting</a:t>
            </a:r>
          </a:p>
          <a:p>
            <a:r>
              <a:t>effort re-chasing leads that look attractive but are already falsified.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tangible design deliverable. Twelve novel candidates were generated and the top three by the transparent</a:t>
            </a:r>
          </a:p>
          <a:p>
            <a:r>
              <a:t>multi-objective score — quinolinecarbonyl, naphthoyl-6-OH, and pyridylphenyl analogs — were carried all the way through</a:t>
            </a:r>
          </a:p>
          <a:p>
            <a:r>
              <a:t>the funnel: CREST ensembles, GFN2 re-ranking, and ready-to-run Gaussian DFT inputs. Importantly, the Phase-8/9 findings</a:t>
            </a:r>
          </a:p>
          <a:p>
            <a:r>
              <a:t>don't change which three rank highest, but they change WHY: rather than just rewarding extended rigid aromatic bulk, the</a:t>
            </a:r>
          </a:p>
          <a:p>
            <a:r>
              <a:t>guidance now is to bias the variable C-6-prime group toward polar, hydrogen-bonding surface. Every input file is</a:t>
            </a:r>
          </a:p>
          <a:p>
            <a:r>
              <a:t>cluster-ready and committed, so synthesis and further computation can proceed immediately. As always, these are</a:t>
            </a:r>
          </a:p>
          <a:p>
            <a:r>
              <a:t>prospective hypotheses to test, not predictions to trust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Methodological guidance for whoever picks this up. First and most important: never optimize raw serum MIC; model the</a:t>
            </a:r>
          </a:p>
          <a:p>
            <a:r>
              <a:t>serum shift or explicitly control for serum-free potency, because potency is the dominant confound and will manufacture</a:t>
            </a:r>
          </a:p>
          <a:p>
            <a:r>
              <a:t>false leads otherwise. Second: treat any cheap 2D or MMFF result as a screen only, and confirm with real QM ensembles</a:t>
            </a:r>
          </a:p>
          <a:p>
            <a:r>
              <a:t>before acting — we saw a −0.45 'hit' evaporate. Third: refine conformer energies at GFN2 before spending DFT or docking</a:t>
            </a:r>
          </a:p>
          <a:p>
            <a:r>
              <a:t>on top, or you'll compute expensive properties on the wrong conformers. Fourth: for beyond-Rule-of-5 glycolipids, stop</a:t>
            </a:r>
          </a:p>
          <a:p>
            <a:r>
              <a:t>using 2D drug-likeness metrics — they're saturated and uninformative — and go straight to 3D/QM. Fifth: report</a:t>
            </a:r>
          </a:p>
          <a:p>
            <a:r>
              <a:t>potency-partialled correlations by default. And sixth, keep negative results first-class; here they redirected the</a:t>
            </a:r>
          </a:p>
          <a:p>
            <a:r>
              <a:t>project twice and saved substantial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important guidance: the next decisive steps are experimental, not computational, and the project has narrowed</a:t>
            </a:r>
          </a:p>
          <a:p>
            <a:r>
              <a:t>them precisely. Priority one is data — more analogs with uncensored serum MICs, ideally including a second chemotype.</a:t>
            </a:r>
          </a:p>
          <a:p>
            <a:r>
              <a:t>This is the single biggest lever, because the current n=24 with 11 censored values is a hard statistical ceiling; with</a:t>
            </a:r>
          </a:p>
          <a:p>
            <a:r>
              <a:t>even 40–60 uncensored points the polar-surface lead could be pushed to significance or cleanly rejected. Priority two is</a:t>
            </a:r>
          </a:p>
          <a:p>
            <a:r>
              <a:t>to measure the mechanism directly with an albumin-binding assay — equilibrium dialysis or fluorescence-probe displacement</a:t>
            </a:r>
          </a:p>
          <a:p>
            <a:r>
              <a:t>at the Sudlow sites — and critically to include the fatty-acid binding sites, because these lipid-tailed molecules may</a:t>
            </a:r>
          </a:p>
          <a:p>
            <a:r>
              <a:t>bind there rather than at the drug sites our docking covered. Priority three is a small, targeted synthetic series of</a:t>
            </a:r>
          </a:p>
          <a:p>
            <a:r>
              <a:t>matched pairs that differ only in polar versus hydrophobic C-6-prime surface while holding serum-free potency constant —</a:t>
            </a:r>
          </a:p>
          <a:p>
            <a:r>
              <a:t>the cleanest possible test of the one lead. Only after those would more in-silico work — fatty-acid-site modeling, other</a:t>
            </a:r>
          </a:p>
          <a:p>
            <a:r>
              <a:t>serum carriers, the prepared finalist DFT single points — be worthwhile, and even then as exploratory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is reproducible and committed to the repository's main branch: the generative pipeline, the QM</a:t>
            </a:r>
          </a:p>
          <a:p>
            <a:r>
              <a:t>descriptor layer, the Phase 7–10 analysis scripts, and all the input-generation utilities, plus every cluster-ready</a:t>
            </a:r>
          </a:p>
          <a:p>
            <a:r>
              <a:t>input for CREST, GFN2, DFT, xtb, and docking. The reasoning is documented at two levels — per-phase findings files and</a:t>
            </a:r>
          </a:p>
          <a:p>
            <a:r>
              <a:t>a single master synthesis narrative. This presentation, with the full speaker notes you're reading, is saved alongside a</a:t>
            </a:r>
          </a:p>
          <a:p>
            <a:r>
              <a:t>companion asset ZIP containing all 18 figures and all 21 tables — each table as both raw CSV and a rendered PNG image so</a:t>
            </a:r>
          </a:p>
          <a:p>
            <a:r>
              <a:t>you can drop them into any document if a viewer mis-renders an embedded object — plus the eight written reports and an</a:t>
            </a:r>
          </a:p>
          <a:p>
            <a:r>
              <a:t>index. In short, a new team can pick this up and either run the next calculation or hand the experimental spec to a wet</a:t>
            </a:r>
          </a:p>
          <a:p>
            <a:r>
              <a:t>lab without reverse-engineering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close: this was a rigorous, ten-phase computational effort that did three things well. It built and characterized the</a:t>
            </a:r>
          </a:p>
          <a:p>
            <a:r>
              <a:t>serum-gap dataset; it exhaustively tested whether 2D, 3D, electronic, and explicit-docking descriptors can predict serum</a:t>
            </a:r>
          </a:p>
          <a:p>
            <a:r>
              <a:t>tolerance — and honestly reported that none reach significance on this data; and it extracted the one convergent,</a:t>
            </a:r>
          </a:p>
          <a:p>
            <a:r>
              <a:t>mechanistically-sensible design lead (favour polar over hydrophobic exposed surface) while falsifying several attractive</a:t>
            </a:r>
          </a:p>
          <a:p>
            <a:r>
              <a:t>but wrong hypotheses. The decisive insight is that the bottleneck is data, not methods, and the project now specifies</a:t>
            </a:r>
          </a:p>
          <a:p>
            <a:r>
              <a:t>exactly which experiments would break the impasse. Thank you — the full written narrative and the complete figure/table</a:t>
            </a:r>
          </a:p>
          <a:p>
            <a:r>
              <a:t>asset pack are referenced here for anyone continuing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The Papulacandin Serum Gap</a:t>
            </a:r>
          </a:p>
          <a:p>
            <a:pPr>
              <a:defRPr sz="2100">
                <a:solidFill>
                  <a:srgbClr val="2A9D8F"/>
                </a:solidFill>
              </a:defRPr>
            </a:pPr>
            <a:r>
              <a:t>A ten-phase computational dissection of why some FKS1 inhibitors survive serum — and what to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C8D2DC"/>
                </a:solidFill>
              </a:defRPr>
            </a:pPr>
            <a:r>
              <a:t>Data curation · 2D SAR · generative design · CREST/QM ensembles · electronic descriptors · HSA docking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A9D8F"/>
                </a:solidFill>
              </a:defRPr>
            </a:pPr>
            <a:r>
              <a:t>Executive summary — what this project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• Serum POTENCY is dominated by intrinsic potency × molecular size / lipophilicity</a:t>
            </a:r>
          </a:p>
          <a:p>
            <a:pPr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• Serum TOLERANCE (the free→serum MIC shift) is, at most, weakly associated with</a:t>
            </a:r>
          </a:p>
          <a:p>
            <a:pPr lvl="1">
              <a:spcAft>
                <a:spcPts val="600"/>
              </a:spcAft>
              <a:defRPr sz="1600" b="1">
                <a:solidFill>
                  <a:srgbClr val="2A9D8F"/>
                </a:solidFill>
              </a:defRPr>
            </a:pPr>
            <a:r>
              <a:t>   – exposing POLAR rather than HYDROPHOBIC surface  (|ρ|≈0.30–0.33, p≈0.13)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the same direction appears in 3D shape AND independent QM-solvation descriptors</a:t>
            </a:r>
          </a:p>
          <a:p>
            <a:pPr>
              <a:spcAft>
                <a:spcPts val="600"/>
              </a:spcAft>
              <a:defRPr sz="1800" b="1">
                <a:solidFill>
                  <a:srgbClr val="E76F51"/>
                </a:solidFill>
              </a:defRPr>
            </a:pPr>
            <a:r>
              <a:t>• Rigorously falsified along the way: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the 'rigidity → tolerance' hypothesis; the hydrophobic-SASA 'hit' (a potency artifact)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explicit HSA drug-site docking carries no signal</a:t>
            </a:r>
          </a:p>
          <a:p>
            <a:pPr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• The binding constraint is the DATA (n=24, 11/24 serum MICs censored), not the methods</a:t>
            </a:r>
          </a:p>
          <a:p>
            <a:pPr>
              <a:spcAft>
                <a:spcPts val="600"/>
              </a:spcAft>
              <a:defRPr sz="1800" b="1">
                <a:solidFill>
                  <a:srgbClr val="E9C46A"/>
                </a:solidFill>
              </a:defRPr>
            </a:pPr>
            <a:r>
              <a:t>• → the next decisive step is experimental, and is now precisely specified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Background — invasive fungal disease, the FKS1 target, the serum gap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The dataset — 24 matched serum-free / serum MIC pairs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Phases 1–4 — 2D structure-activity &amp; machine-learning baselines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Phases 5–6 — generative design &amp; the QM (CREST) descriptor funnel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Phases 7–8 — 3D retrospective: a promising lead, then the confound that kills it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Phase 9 — quantum-chemical electronic / solvation descriptors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Phase 10 — explicit human serum albumin docking</a:t>
            </a:r>
          </a:p>
          <a:p>
            <a:pPr>
              <a:spcAft>
                <a:spcPts val="600"/>
              </a:spcAft>
              <a:defRPr sz="2000" b="0">
                <a:solidFill>
                  <a:srgbClr val="E9C46A"/>
                </a:solidFill>
              </a:defRPr>
            </a:pPr>
            <a:r>
              <a:t>• Synthesis — the convergent finding, the negatives, and guidance for next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Background — why papulacandins, and what is the serum gap?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Invasive fungal infections kill ~1.5 M people/year; resistance to existing classes is rising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FKS1 / (1,3)-β-D-glucan synthase is the validated echinocandin target (fungal cell wall)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Papulacandins &amp; fusacandins are non-peptide glycolipid FKS1 inhibitors — a distinct chemotype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555B66"/>
                </a:solidFill>
              </a:defRPr>
            </a:pPr>
            <a:r>
              <a:t>   – potent against the enzyme and in serum-free whole-cell assays</a:t>
            </a:r>
          </a:p>
          <a:p>
            <a:pPr>
              <a:spcAft>
                <a:spcPts val="600"/>
              </a:spcAft>
              <a:defRPr sz="2000" b="1">
                <a:solidFill>
                  <a:srgbClr val="E76F51"/>
                </a:solidFill>
              </a:defRPr>
            </a:pPr>
            <a:r>
              <a:t>• THE PROBLEM ("serum gap"): most lose activity in the presence of serum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555B66"/>
                </a:solidFill>
              </a:defRPr>
            </a:pPr>
            <a:r>
              <a:t>   – e.g. Papulacandin B: serum-free ~1.7 µM → serum ~111 µM (≈64× loss)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A9D8F"/>
                </a:solidFill>
              </a:defRPr>
            </a:pPr>
            <a:r>
              <a:t>   – a few analogs retain serum activity — those positives are the entire SAR signal</a:t>
            </a:r>
          </a:p>
          <a:p>
            <a:pPr>
              <a:spcAft>
                <a:spcPts val="600"/>
              </a:spcAft>
              <a:defRPr sz="2000" b="1">
                <a:solidFill>
                  <a:srgbClr val="1F3A5F"/>
                </a:solidFill>
              </a:defRPr>
            </a:pPr>
            <a:r>
              <a:t>• Goal: find a computable rule to DESIGN serum-tolerant analogs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The dataset — the dependent variable (24 matched pairs)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77724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377440"/>
                <a:gridCol w="1005840"/>
                <a:gridCol w="1005840"/>
                <a:gridCol w="914400"/>
                <a:gridCol w="128016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free MIC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serum MIC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shift×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serum-active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PAPU-0081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PAPU-0085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6h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PAPU-0088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=1.56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=1.56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PAPU-0077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=3.12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=50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PAPU-0082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=3.12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=50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55B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37160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F3A5F"/>
                </a:solidFill>
              </a:defRPr>
            </a:pPr>
            <a:r>
              <a:t>• 24 compounds,</a:t>
            </a:r>
          </a:p>
          <a:p>
            <a:pPr>
              <a:spcAft>
                <a:spcPts val="600"/>
              </a:spcAft>
              <a:defRPr sz="1400" b="0">
                <a:solidFill>
                  <a:srgbClr val="1F3A5F"/>
                </a:solidFill>
              </a:defRPr>
            </a:pPr>
            <a:r>
              <a:t>• 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137160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55B66"/>
                </a:solidFill>
              </a:defRPr>
            </a:pPr>
            <a:r>
              <a:t>• Yeung-1996 fusacandin series 6a–6u + Fusacandin A/B + Papulacandin B</a:t>
            </a:r>
          </a:p>
          <a:p>
            <a:pPr>
              <a:spcAft>
                <a:spcPts val="800"/>
              </a:spcAft>
              <a:defRPr sz="1300" b="1">
                <a:solidFill>
                  <a:srgbClr val="2A9D8F"/>
                </a:solidFill>
              </a:defRPr>
            </a:pPr>
            <a:r>
              <a:t>• 13/24 keep measurable serum activity</a:t>
            </a:r>
          </a:p>
          <a:p>
            <a:pPr>
              <a:spcAft>
                <a:spcPts val="800"/>
              </a:spcAft>
              <a:defRPr sz="1300" b="1">
                <a:solidFill>
                  <a:srgbClr val="E76F51"/>
                </a:solidFill>
              </a:defRPr>
            </a:pPr>
            <a:r>
              <a:t>• 11/24 serum MICs CENSORED at 100</a:t>
            </a:r>
          </a:p>
          <a:p>
            <a:pPr>
              <a:spcAft>
                <a:spcPts val="800"/>
              </a:spcAft>
              <a:defRPr sz="1300" b="0">
                <a:solidFill>
                  <a:srgbClr val="555B66"/>
                </a:solidFill>
              </a:defRPr>
            </a:pPr>
            <a:r>
              <a:t>• values tied on {12.5,25,50,100}</a:t>
            </a:r>
          </a:p>
          <a:p>
            <a:pPr>
              <a:spcAft>
                <a:spcPts val="800"/>
              </a:spcAft>
              <a:defRPr sz="1300" b="0">
                <a:solidFill>
                  <a:srgbClr val="1F3A5F"/>
                </a:solidFill>
              </a:defRPr>
            </a:pPr>
            <a:r>
              <a:t>• Endpoints: serum MIC AND the serum SHIFT (serum/free) — the potency-free measure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Strategy — a multi-tier descriptor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3A5F"/>
                </a:solidFill>
              </a:defRPr>
            </a:pPr>
            <a:r>
              <a:t>• Each phase asks one question: does THIS descriptor family predict the serum shift?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Tier 1 — 2D topological (clogP, fsp3, MW, rotatable bonds, design-rule score)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Tier 2 — machine learning (external FKS model; within-series serum model)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Tier 3 — generative design → novel candidates for prospective testing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Tier 4 — 3D conformational: CREST ensembles → Boltzmann-weighted SASA / shape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Tier 5 — quantum-chemical electronics: GFN2-xTB dipole, gap, polarizability, QM logP</a:t>
            </a:r>
          </a:p>
          <a:p>
            <a:pPr>
              <a:spcAft>
                <a:spcPts val="600"/>
              </a:spcAft>
              <a:defRPr sz="2000" b="0">
                <a:solidFill>
                  <a:srgbClr val="1F3A5F"/>
                </a:solidFill>
              </a:defRPr>
            </a:pPr>
            <a:r>
              <a:t>• Tier 6 — explicit mechanism: docking to human serum albumin</a:t>
            </a:r>
          </a:p>
          <a:p>
            <a:pPr>
              <a:spcAft>
                <a:spcPts val="600"/>
              </a:spcAft>
              <a:defRPr sz="2000" b="1">
                <a:solidFill>
                  <a:srgbClr val="2A9D8F"/>
                </a:solidFill>
              </a:defRPr>
            </a:pPr>
            <a:r>
              <a:t>• Cheap, broad tiers screen; expensive QM tiers confirm — and guard against false leads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1 — which properties separate tolerant vs killed?</a:t>
            </a:r>
          </a:p>
        </p:txBody>
      </p:sp>
      <p:pic>
        <p:nvPicPr>
          <p:cNvPr id="4" name="Picture 3" descr="phase1_descriptor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2143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Serum-tolerant analogs tend to higher MW, lower fsp3</a:t>
            </a:r>
          </a:p>
          <a:p>
            <a:pPr>
              <a:spcAft>
                <a:spcPts val="700"/>
              </a:spcAft>
              <a:defRPr sz="1400" b="0">
                <a:solidFill>
                  <a:srgbClr val="555B66"/>
                </a:solidFill>
              </a:defRPr>
            </a:pPr>
            <a:r>
              <a:t>   – i.e. larger, more rigid-aromatic</a:t>
            </a:r>
          </a:p>
          <a:p>
            <a:pPr>
              <a:spcAft>
                <a:spcPts val="700"/>
              </a:spcAft>
              <a:defRPr sz="1500" b="1">
                <a:solidFill>
                  <a:srgbClr val="2A9D8F"/>
                </a:solidFill>
              </a:defRPr>
            </a:pPr>
            <a:r>
              <a:t>• MW: ρ=−0.59 (p=0.002); fsp3: ρ=+0.58 (p=0.003)</a:t>
            </a:r>
          </a:p>
          <a:p>
            <a:pPr>
              <a:spcAft>
                <a:spcPts val="700"/>
              </a:spcAft>
              <a:defRPr sz="1500" b="1">
                <a:solidFill>
                  <a:srgbClr val="E76F51"/>
                </a:solidFill>
              </a:defRPr>
            </a:pPr>
            <a:r>
              <a:t>• clogP does NOT separate them (ρ=−0.33, p=0.12)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Hypothesis (n=24, one series): rigid-aromatic character, not bulk lipophilicity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1 — descriptor statistics (tolerant vs killed)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554480"/>
          <a:ext cx="9875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descriptor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median (tol)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median (killed)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ρ vs serum MIC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Spearman 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MW-U 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mw_exact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1.08e+03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1.03e+03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fsp3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0.491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0.579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0.0033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hba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tpsa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351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342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-0.346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0.0976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0.0758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clogp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hbd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0.125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0.559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0.545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rotb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52120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3A5F"/>
                </a:solidFill>
              </a:defRPr>
            </a:pPr>
            <a:r>
              <a:t>• MW and fsp3 are the significant separators; clogP, HBD, rotatable bonds are not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2 — where in the cascade do compounds fail?</a:t>
            </a:r>
          </a:p>
        </p:txBody>
      </p:sp>
      <p:pic>
        <p:nvPicPr>
          <p:cNvPr id="4" name="Picture 3" descr="phase2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705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Per-compound ladder: enzyme → serum-free cell → serum cell</a:t>
            </a:r>
          </a:p>
          <a:p>
            <a:pPr>
              <a:spcAft>
                <a:spcPts val="700"/>
              </a:spcAft>
              <a:defRPr sz="1500" b="1">
                <a:solidFill>
                  <a:srgbClr val="2A9D8F"/>
                </a:solidFill>
              </a:defRPr>
            </a:pPr>
            <a:r>
              <a:t>• Compounds are potent on the enzyme AND serum-free cells</a:t>
            </a:r>
          </a:p>
          <a:p>
            <a:pPr>
              <a:spcAft>
                <a:spcPts val="700"/>
              </a:spcAft>
              <a:defRPr sz="1500" b="1">
                <a:solidFill>
                  <a:srgbClr val="E76F51"/>
                </a:solidFill>
              </a:defRPr>
            </a:pPr>
            <a:r>
              <a:t>• Activity is lost ONLY at the serum step</a:t>
            </a:r>
          </a:p>
          <a:p>
            <a:pPr>
              <a:spcAft>
                <a:spcPts val="700"/>
              </a:spcAft>
              <a:defRPr sz="1400" b="0">
                <a:solidFill>
                  <a:srgbClr val="555B66"/>
                </a:solidFill>
              </a:defRPr>
            </a:pPr>
            <a:r>
              <a:t>   – localises the problem to serum exposure, not target affinity or cell entry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Confirms the serum gap is a bioavailability/sequestration problem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Phase 3A — can an external FKS model rank papulacandins?</a:t>
            </a:r>
          </a:p>
        </p:txBody>
      </p:sp>
      <p:pic>
        <p:nvPicPr>
          <p:cNvPr id="4" name="Picture 3" descr="fig_phase3a_chem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2865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Trained an external FKS-inhibitor classifier; mapped papulacandins into its space</a:t>
            </a:r>
          </a:p>
          <a:p>
            <a:pPr>
              <a:spcAft>
                <a:spcPts val="700"/>
              </a:spcAft>
              <a:defRPr sz="1500" b="1">
                <a:solidFill>
                  <a:srgbClr val="E76F51"/>
                </a:solidFill>
              </a:defRPr>
            </a:pPr>
            <a:r>
              <a:t>• CV AUC 0.997 — but on a trivial split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Papulacandins are OUT-OF-DOMAIN (model scores ≤0.39)</a:t>
            </a:r>
          </a:p>
          <a:p>
            <a:pPr>
              <a:spcAft>
                <a:spcPts val="700"/>
              </a:spcAft>
              <a:defRPr sz="1500" b="0">
                <a:solidFill>
                  <a:srgbClr val="555B66"/>
                </a:solidFill>
              </a:defRPr>
            </a:pPr>
            <a:r>
              <a:t>• Honest negative: use the model as a chemical-space reference, not a predictor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Phase 3B — can we predict serum MIC within the series?</a:t>
            </a:r>
          </a:p>
        </p:txBody>
      </p:sp>
      <p:pic>
        <p:nvPicPr>
          <p:cNvPr id="4" name="Picture 3" descr="phase3b_pred_vs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532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Within-series regularized model for serum MIC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In-sample looks good: ρ=0.65</a:t>
            </a:r>
          </a:p>
          <a:p>
            <a:pPr>
              <a:spcAft>
                <a:spcPts val="700"/>
              </a:spcAft>
              <a:defRPr sz="1500" b="1">
                <a:solidFill>
                  <a:srgbClr val="E76F51"/>
                </a:solidFill>
              </a:defRPr>
            </a:pPr>
            <a:r>
              <a:t>• Leave-one-out collapses: ρ=0.14 (n.s.)</a:t>
            </a:r>
          </a:p>
          <a:p>
            <a:pPr>
              <a:spcAft>
                <a:spcPts val="700"/>
              </a:spcAft>
              <a:defRPr sz="1400" b="0">
                <a:solidFill>
                  <a:srgbClr val="555B66"/>
                </a:solidFill>
              </a:defRPr>
            </a:pPr>
            <a:r>
              <a:t>   – classic small-n over-fitting (optimism)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Verdict: not yet predictive — data-limited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3 — summary of the modeling attempts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657600"/>
                <a:gridCol w="4846320"/>
                <a:gridCol w="201168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key_result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Which properties separate serum-toler…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higher MW / lower fsp3 (rigid aromati…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hypothesis (n=24, one series)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Where do compounds fail?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potent on enzyme &amp; serum-free cell, l…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robust per-compound ladder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3A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Can the external FKS model rank papul…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AUC 0.997 but trivial split; papulaca…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honest negative / use as chemical-spa…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3B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Can we predict serum MIC?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within-series in-sample rho 0.65 -&gt; L…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not yet predictive (data-limited)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4 — existing serum-tolerant leads &amp; design rules</a:t>
            </a:r>
          </a:p>
        </p:txBody>
      </p:sp>
      <p:pic>
        <p:nvPicPr>
          <p:cNvPr id="4" name="Picture 3" descr="fig_phase4_existing_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4212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Catalogued the 13 serum-active analogs as SAR anchors</a:t>
            </a:r>
          </a:p>
          <a:p>
            <a:pPr>
              <a:spcAft>
                <a:spcPts val="700"/>
              </a:spcAft>
              <a:defRPr sz="1500" b="1">
                <a:solidFill>
                  <a:srgbClr val="2A9D8F"/>
                </a:solidFill>
              </a:defRPr>
            </a:pPr>
            <a:r>
              <a:t>• Best leads (serum MIC 12.5): 6j, 6k, 6n, 6o, 6p</a:t>
            </a:r>
          </a:p>
          <a:p>
            <a:pPr>
              <a:spcAft>
                <a:spcPts val="700"/>
              </a:spcAft>
              <a:defRPr sz="1400" b="0">
                <a:solidFill>
                  <a:srgbClr val="555B66"/>
                </a:solidFill>
              </a:defRPr>
            </a:pPr>
            <a:r>
              <a:t>   – all extended biphenyl / terphenyl C-6′ aroyl esters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Distilled into a transparent, source-attributed design score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Used to rank/triage — NOT a black box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4 — the serum-tolerant leads (SAR anchors)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914400"/>
                <a:gridCol w="6309360"/>
              </a:tblGrid>
              <a:tr h="27431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analog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free MIC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serum MIC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shift×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C-6′ modification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biphenylcarbonyl C-6' ester; Fusacand…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terphenylcarbonyl C-6' ester; Fusacan…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methoxybiphenylcarbonyl C-6' ester; F…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propoxybiphenylcarbonyl C-6' ester; F…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isopropoxybiphenylcarbonyl C-6' ester…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6h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tricyclic fused aromatic C-6' ester; …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ethylbiphenylcarbonyl C-6' ester; Fus…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Fusacandin analog 6r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=1.56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=25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B66"/>
                          </a:solidFill>
                        </a:defRPr>
                      </a:pPr>
                      <a:r>
                        <a:t>benzyloxybiphenylcarbonyl C-6' ester;…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Phases 4→5 — the 2D baseline to beat</a:t>
            </a:r>
          </a:p>
        </p:txBody>
      </p:sp>
      <p:pic>
        <p:nvPicPr>
          <p:cNvPr id="4" name="Picture 3" descr="phase5_retro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34116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2D design-rule score vs observed serum MIC</a:t>
            </a:r>
          </a:p>
          <a:p>
            <a:pPr>
              <a:spcAft>
                <a:spcPts val="700"/>
              </a:spcAft>
              <a:defRPr sz="1500" b="1">
                <a:solidFill>
                  <a:srgbClr val="E76F51"/>
                </a:solidFill>
              </a:defRPr>
            </a:pPr>
            <a:r>
              <a:t>• Spearman ρ = 0.32 (p≈0.20) — not significant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Best the 2D world can do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Sets the bar for every 3D / QM descriptor that follows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5 — generative design of novel analogs</a:t>
            </a:r>
          </a:p>
        </p:txBody>
      </p:sp>
      <p:pic>
        <p:nvPicPr>
          <p:cNvPr id="4" name="Picture 3" descr="phase5_sco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22444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Cleave &amp; re-esterify the validated C-6′ aromatic ester (InChIKey-verified)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37 acyl fragments (data-derived + designed) → multi-objective scoring</a:t>
            </a:r>
          </a:p>
          <a:p>
            <a:pPr>
              <a:spcAft>
                <a:spcPts val="700"/>
              </a:spcAft>
              <a:defRPr sz="1400" b="0">
                <a:solidFill>
                  <a:srgbClr val="555B66"/>
                </a:solidFill>
              </a:defRPr>
            </a:pPr>
            <a:r>
              <a:t>   – QED, synthetic accessibility, design rules, novelty — no learned activity model</a:t>
            </a:r>
          </a:p>
          <a:p>
            <a:pPr>
              <a:spcAft>
                <a:spcPts val="700"/>
              </a:spcAft>
              <a:defRPr sz="1500" b="1">
                <a:solidFill>
                  <a:srgbClr val="2A9D8F"/>
                </a:solidFill>
              </a:defRPr>
            </a:pPr>
            <a:r>
              <a:t>• 12 novel candidates advanced; honest given the tiny dataset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Phase 5 — a key cheminformatics finding: the chemotype is bRo5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E76F51"/>
                </a:solidFill>
              </a:defRPr>
            </a:pPr>
            <a:r>
              <a:t>• Across all 30 designs: QED ≈ 0.01–0.03 and 0/30 pass Lipinski's Rule of 5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</a:defRPr>
            </a:pPr>
            <a:r>
              <a:t>• These are 'beyond-Rule-of-5' (bRo5) glycolipids — like cyclosporine, not like aspirin</a:t>
            </a:r>
          </a:p>
          <a:p>
            <a:pPr>
              <a:spcAft>
                <a:spcPts val="600"/>
              </a:spcAft>
              <a:defRPr sz="1900" b="1">
                <a:solidFill>
                  <a:srgbClr val="1F3A5F"/>
                </a:solidFill>
              </a:defRPr>
            </a:pPr>
            <a:r>
              <a:t>• Consequence: standard 2D drug-likeness metrics are SATURATED and uninformative here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B66"/>
                </a:solidFill>
              </a:defRPr>
            </a:pPr>
            <a:r>
              <a:t>   – QED, Lipinski, etc. cannot rank within this chemotype — they're all ~equally 'bad'</a:t>
            </a:r>
          </a:p>
          <a:p>
            <a:pPr>
              <a:spcAft>
                <a:spcPts val="600"/>
              </a:spcAft>
              <a:defRPr sz="1900" b="1">
                <a:solidFill>
                  <a:srgbClr val="2A9D8F"/>
                </a:solidFill>
              </a:defRPr>
            </a:pPr>
            <a:r>
              <a:t>• → This is the formal justification for moving to 3D / conformational descriptors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B66"/>
                </a:solidFill>
              </a:defRPr>
            </a:pPr>
            <a:r>
              <a:t>   – if 2D can't even differentiate the molecules, only 3D shape/electronics can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6 — the QM descriptor funnel (CREST → 3D descriptors)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CREST conformer ensembles (GFN-FF, water) for each compound — hundreds of conformers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In-house vectorized Shrake–Rupley SASA (no external dependency), Boltzmann-weighted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split into HYDROPHOBIC vs POLAR exposed surface — the serum-binding-relevant quantity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Ensemble SASA spread = a genuine 3D flexibility/rigidity metric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Radius of gyration, asphericity = overall shape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Gaussian DFT inputs (B3LYP/6-31G(d), PCM water, ESP charges) for populated conformers</a:t>
            </a:r>
          </a:p>
          <a:p>
            <a:pPr>
              <a:spcAft>
                <a:spcPts val="600"/>
              </a:spcAft>
              <a:defRPr sz="1800" b="1">
                <a:solidFill>
                  <a:srgbClr val="2A9D8F"/>
                </a:solidFill>
              </a:defRPr>
            </a:pPr>
            <a:r>
              <a:t>• Self-tested end-to-end before any real QM data existed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A9D8F"/>
                </a:solidFill>
              </a:defRPr>
            </a:pPr>
            <a:r>
              <a:t>Phase 7 — a promising 3D lead (MMFF-proxy ensembles)</a:t>
            </a:r>
          </a:p>
        </p:txBody>
      </p:sp>
      <p:pic>
        <p:nvPicPr>
          <p:cNvPr id="4" name="Picture 3" descr="phase7_retrospective_q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28678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Fast RDKit-MMFF ensembles on the 24 knowns (proxy for CREST)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Boltzmann-weighted HYDROPHOBIC SASA vs serum MIC:</a:t>
            </a:r>
          </a:p>
          <a:p>
            <a:pPr>
              <a:spcAft>
                <a:spcPts val="700"/>
              </a:spcAft>
              <a:defRPr sz="1400" b="1">
                <a:solidFill>
                  <a:srgbClr val="2A9D8F"/>
                </a:solidFill>
              </a:defRPr>
            </a:pPr>
            <a:r>
              <a:t>   – ρ = −0.45 (p = 0.029) — beats the 2D baseline of 0.32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First descriptor to reach significance — promising enough to commit cluster time</a:t>
            </a:r>
          </a:p>
          <a:p>
            <a:pPr>
              <a:spcAft>
                <a:spcPts val="700"/>
              </a:spcAft>
              <a:defRPr sz="1500" b="0">
                <a:solidFill>
                  <a:srgbClr val="555B66"/>
                </a:solidFill>
              </a:defRPr>
            </a:pPr>
            <a:r>
              <a:t>• Caveat flagged at the time: proxy ensembles, must confirm with real CREST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Phase 8 — real CREST overturns the lead</a:t>
            </a:r>
          </a:p>
        </p:txBody>
      </p:sp>
      <p:pic>
        <p:nvPicPr>
          <p:cNvPr id="4" name="Picture 3" descr="phase8_retrospective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28028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Real CREST/GFN-FF ensembles (24 cmpds, 132–597 conformers each)</a:t>
            </a:r>
          </a:p>
          <a:p>
            <a:pPr>
              <a:spcAft>
                <a:spcPts val="700"/>
              </a:spcAft>
              <a:defRPr sz="1500" b="1">
                <a:solidFill>
                  <a:srgbClr val="E76F51"/>
                </a:solidFill>
              </a:defRPr>
            </a:pPr>
            <a:r>
              <a:t>• Hydrophobic SASA weakens to ρ=−0.31 (p=0.14) — loses significance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Rigidity metric (SASA spread): flat (ρ≈+0.17)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MMFF proxy OVERSTATED the effect (−0.45 → −0.31)</a:t>
            </a:r>
          </a:p>
          <a:p>
            <a:pPr>
              <a:spcAft>
                <a:spcPts val="700"/>
              </a:spcAft>
              <a:defRPr sz="1500" b="1">
                <a:solidFill>
                  <a:srgbClr val="2A9D8F"/>
                </a:solidFill>
              </a:defRPr>
            </a:pPr>
            <a:r>
              <a:t>• Methodological lesson: confirm proxy hits with real QM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860B"/>
                </a:solidFill>
              </a:defRPr>
            </a:pPr>
            <a:r>
              <a:t>Phase 8 — the decisive confound test  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7431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descriptor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partial ρ (serum MIC | potency)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partial 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ρ vs SHIFT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shift 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hydrophobic_sasa_mean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hydrophobic_fraction_mean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0.383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0.192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hydrophobic_sasa_std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-0.11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polar_sasa_mean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0.134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-0.33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0.118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rg_mean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-0.23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-0.05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0.804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76F51"/>
                </a:solidFill>
              </a:defRPr>
            </a:pPr>
            <a:r>
              <a:t>• Serum-free MIC ALONE tracks serum MIC at ρ=0.79 — intrinsic potency dominates</a:t>
            </a:r>
          </a:p>
          <a:p>
            <a:pPr>
              <a:spcAft>
                <a:spcPts val="600"/>
              </a:spcAft>
              <a:defRPr sz="1500" b="1">
                <a:solidFill>
                  <a:srgbClr val="1F3A5F"/>
                </a:solidFill>
              </a:defRPr>
            </a:pPr>
            <a:r>
              <a:t>• Control for potency → hydrophobic SASA collapses to ρ=0.02 (the Phase-7 'hit' was an artifact)</a:t>
            </a:r>
          </a:p>
          <a:p>
            <a:pPr>
              <a:spcAft>
                <a:spcPts val="600"/>
              </a:spcAft>
              <a:defRPr sz="1500" b="1">
                <a:solidFill>
                  <a:srgbClr val="2A9D8F"/>
                </a:solidFill>
              </a:defRPr>
            </a:pPr>
            <a:r>
              <a:t>• Only survivor pointing the right way: POLAR SASA vs shift ρ=−0.33 (p=0.12)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8b — GFN-FF → GFN2 refinement of the finalists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finalist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n(GFNFF)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n(GFN2)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hSASA FF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hSASA GFN2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hSASA sd FF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hSASA sd GFN2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cand01_quinolinecarbonyl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19.4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24.7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cand02_naphthoyl_6OH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505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615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610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19.3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cand03_pyridylphenyl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14.8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3A5F"/>
                </a:solidFill>
              </a:defRPr>
            </a:pPr>
            <a:r>
              <a:t>• Re-ranking the 3 finalists' ensembles at GFN2 shifted populations materially</a:t>
            </a:r>
          </a:p>
          <a:p>
            <a:pPr lvl="1">
              <a:spcAft>
                <a:spcPts val="600"/>
              </a:spcAft>
              <a:defRPr sz="1300" b="0">
                <a:solidFill>
                  <a:srgbClr val="E76F51"/>
                </a:solidFill>
              </a:defRPr>
            </a:pPr>
            <a:r>
              <a:t>   – cand02: a flat GFN-FF set → one dominant GFN2 conformer (68%) — DFT set would have been wrong</a:t>
            </a:r>
          </a:p>
          <a:p>
            <a:pPr>
              <a:spcAft>
                <a:spcPts val="600"/>
              </a:spcAft>
              <a:defRPr sz="1500" b="1">
                <a:solidFill>
                  <a:srgbClr val="2A9D8F"/>
                </a:solidFill>
              </a:defRPr>
            </a:pPr>
            <a:r>
              <a:t>• Confirms: refine before the expensive DFT step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A9D8F"/>
                </a:solidFill>
              </a:defRPr>
            </a:pPr>
            <a:r>
              <a:t>Phase 9 — quantum electronic / solvation descriptors</a:t>
            </a:r>
          </a:p>
        </p:txBody>
      </p:sp>
      <p:pic>
        <p:nvPicPr>
          <p:cNvPr id="4" name="Picture 3" descr="phase9_electro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419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GFN2-xTB single points (water + octanol), 24 cmpds, 102 conformers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Polarizability α(0): biggest raw serum-MIC ρ=−0.54 (p=0.01)…</a:t>
            </a:r>
          </a:p>
          <a:p>
            <a:pPr>
              <a:spcAft>
                <a:spcPts val="700"/>
              </a:spcAft>
              <a:defRPr sz="1400" b="1">
                <a:solidFill>
                  <a:srgbClr val="E76F51"/>
                </a:solidFill>
              </a:defRPr>
            </a:pPr>
            <a:r>
              <a:t>   – …but a SIZE proxy (shift ρ=−0.02; tracks Rg, potency)</a:t>
            </a:r>
          </a:p>
          <a:p>
            <a:pPr>
              <a:spcAft>
                <a:spcPts val="700"/>
              </a:spcAft>
              <a:defRPr sz="1500" b="1">
                <a:solidFill>
                  <a:srgbClr val="2A9D8F"/>
                </a:solidFill>
              </a:defRPr>
            </a:pPr>
            <a:r>
              <a:t>• QM logP ↔ hydrophobic SASA (ρ=0.76); shift ρ=+0.30</a:t>
            </a:r>
          </a:p>
          <a:p>
            <a:pPr>
              <a:spcAft>
                <a:spcPts val="700"/>
              </a:spcAft>
              <a:defRPr sz="1400" b="0">
                <a:solidFill>
                  <a:srgbClr val="555B66"/>
                </a:solidFill>
              </a:defRPr>
            </a:pPr>
            <a:r>
              <a:t>   – independently corroborates the polar-surface lead</a:t>
            </a:r>
          </a:p>
          <a:p>
            <a:pPr>
              <a:spcAft>
                <a:spcPts val="700"/>
              </a:spcAft>
              <a:defRPr sz="1500" b="1">
                <a:solidFill>
                  <a:srgbClr val="1F3A5F"/>
                </a:solidFill>
              </a:defRPr>
            </a:pPr>
            <a:r>
              <a:t>• Two descriptor families now converge — neither significant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Phase 9 — electronic descriptor statistics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102"/>
                <a:gridCol w="1476102"/>
                <a:gridCol w="1476102"/>
                <a:gridCol w="1476102"/>
                <a:gridCol w="1476102"/>
                <a:gridCol w="1476102"/>
                <a:gridCol w="1476108"/>
              </a:tblGrid>
              <a:tr h="27431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descriptor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ρ serumMIC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partial ρ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partial 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ρ shift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shift 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dipole_D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logP_xtb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0.142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0.668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0.149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gsolv_water_kcal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alpha_au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-0.54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-0.37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0.071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0.941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homo_lumo_gap_eV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5B66"/>
                          </a:solidFill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1206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A9D8F"/>
                </a:solidFill>
              </a:defRPr>
            </a:pPr>
            <a:r>
              <a:t>• logP_xtb is the descriptor that points the mechanistically-expected way on the SHIFT (+0.30)</a:t>
            </a:r>
          </a:p>
          <a:p>
            <a:pPr>
              <a:spcAft>
                <a:spcPts val="600"/>
              </a:spcAft>
              <a:defRPr sz="1400" b="1">
                <a:solidFill>
                  <a:srgbClr val="E76F51"/>
                </a:solidFill>
              </a:defRPr>
            </a:pPr>
            <a:r>
              <a:t>• α(0) is big vs serum MIC but vanishes on the shift — a size/potency proxy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Phase 10 — explicit human serum albumin docking</a:t>
            </a:r>
          </a:p>
        </p:txBody>
      </p:sp>
      <p:pic>
        <p:nvPicPr>
          <p:cNvPr id="4" name="Picture 3" descr="phase10_h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778486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4173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Direct test of the sequestration mechanism (HSA, PDB 1AO6)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Rigid ensemble surface docking (flexible = intractable at ~38 torsions)</a:t>
            </a:r>
          </a:p>
          <a:p>
            <a:pPr>
              <a:spcAft>
                <a:spcPts val="700"/>
              </a:spcAft>
              <a:defRPr sz="1500" b="1">
                <a:solidFill>
                  <a:srgbClr val="E76F51"/>
                </a:solidFill>
              </a:defRPr>
            </a:pPr>
            <a:r>
              <a:t>• HSA affinity vs serum shift: ρ=+0.22 (p=0.30) — NULL</a:t>
            </a:r>
          </a:p>
          <a:p>
            <a:pPr>
              <a:spcAft>
                <a:spcPts val="700"/>
              </a:spcAft>
              <a:defRPr sz="1400" b="0">
                <a:solidFill>
                  <a:srgbClr val="555B66"/>
                </a:solidFill>
              </a:defRPr>
            </a:pPr>
            <a:r>
              <a:t>   – sign even opposite to sequestration; flat under potency/size controls</a:t>
            </a:r>
          </a:p>
          <a:p>
            <a:pPr>
              <a:spcAft>
                <a:spcPts val="700"/>
              </a:spcAft>
              <a:defRPr sz="1500" b="0">
                <a:solidFill>
                  <a:srgbClr val="1F3A5F"/>
                </a:solidFill>
              </a:defRPr>
            </a:pPr>
            <a:r>
              <a:t>• Not a size proxy (ρ=−0.15 vs α) → captured real surface binding, no signal</a:t>
            </a:r>
          </a:p>
          <a:p>
            <a:pPr>
              <a:spcAft>
                <a:spcPts val="700"/>
              </a:spcAft>
              <a:defRPr sz="1500" b="0">
                <a:solidFill>
                  <a:srgbClr val="555B66"/>
                </a:solidFill>
              </a:defRPr>
            </a:pPr>
            <a:r>
              <a:t>• Caveat: Vina unfit for 1200 Da amphiphiles → cannot EXCLUDE the mechanism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860B"/>
                </a:solidFill>
              </a:defRPr>
            </a:pPr>
            <a:r>
              <a:t>Synthesis — every approach, one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2011680"/>
                <a:gridCol w="3200400"/>
              </a:tblGrid>
              <a:tr h="27431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Spearman ρ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2D descriptors (Ph 1–5)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design-rule score vs serum 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ρ = 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n.s. —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ML serum model (Ph 3B)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within-series, leave-one-out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ρ = 0.14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over-fit / data-limited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3D hydrophobic SASA (Ph 7→8)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MMFF proxy → real CREST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−0.45 → −0.31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potency artifact (partial 0.02)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3D rigidity (SASA spread)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ensemble flexibility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≈ +0.17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hypothesis falsified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3D polar SASA (Ph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vs serum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−0.33 (p=0.12)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lead — direction sensible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QM polarizability (Ph 9)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vs serum MIC / shift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−0.54 / −0.02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size/potency proxy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QM logP (Ph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vs serum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+0.30 (p=0.15)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corroborates polar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HSA docking (Ph 10)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vs serum SHIFT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+0.22 (p=0.30)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B66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A9D8F"/>
                </a:solidFill>
              </a:defRPr>
            </a:pPr>
            <a:r>
              <a:t>The one convergent, defensible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A9D8F"/>
                </a:solidFill>
              </a:defRPr>
            </a:pPr>
            <a:r>
              <a:t>• Among EQUIPOTENT analogs, biasing exposed surface toward POLAR / H-bonding character</a:t>
            </a:r>
          </a:p>
          <a:p>
            <a:pPr>
              <a:spcAft>
                <a:spcPts val="600"/>
              </a:spcAft>
              <a:defRPr sz="1900" b="1">
                <a:solidFill>
                  <a:srgbClr val="2A9D8F"/>
                </a:solidFill>
              </a:defRPr>
            </a:pPr>
            <a:r>
              <a:t>• is associated with smaller serum loss.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B66"/>
                </a:solidFill>
              </a:defRPr>
            </a:pPr>
            <a:r>
              <a:t>   – polar SASA vs shift ρ=−0.33; QM logP vs shift +0.30; dipole weakly aligned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1F3A5F"/>
                </a:solidFill>
              </a:defRPr>
            </a:pPr>
            <a:r>
              <a:t>   – two independent descriptor families (3D shape + QM solvation) agree</a:t>
            </a:r>
          </a:p>
          <a:p>
            <a:pPr>
              <a:spcAft>
                <a:spcPts val="600"/>
              </a:spcAft>
              <a:defRPr sz="1900" b="1">
                <a:solidFill>
                  <a:srgbClr val="E76F51"/>
                </a:solidFill>
              </a:defRPr>
            </a:pPr>
            <a:r>
              <a:t>• Effect size |ρ|≈0.30–0.33, p≈0.12–0.15 — DIRECTIONAL, not proven</a:t>
            </a:r>
          </a:p>
          <a:p>
            <a:pPr>
              <a:spcAft>
                <a:spcPts val="600"/>
              </a:spcAft>
              <a:defRPr sz="1900" b="1">
                <a:solidFill>
                  <a:srgbClr val="1F3A5F"/>
                </a:solidFill>
              </a:defRPr>
            </a:pPr>
            <a:r>
              <a:t>• Actionable design hypothesis for the variable C-6′ group: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B66"/>
                </a:solidFill>
              </a:defRPr>
            </a:pPr>
            <a:r>
              <a:t>   – add polar / hydrogen-bonding surface, don't just extend rigid aromatic bulk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Equally valuable — what we rigorously ruled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• Raw serum MIC is the WRONG endpoint — ~potency-dominated (ρ=0.79); always model the shift</a:t>
            </a:r>
          </a:p>
          <a:p>
            <a:pPr>
              <a:spcAft>
                <a:spcPts val="600"/>
              </a:spcAft>
              <a:defRPr sz="1800" b="1">
                <a:solidFill>
                  <a:srgbClr val="E76F51"/>
                </a:solidFill>
              </a:defRPr>
            </a:pPr>
            <a:r>
              <a:t>• The Phase-1 'rigidity → tolerance' hypothesis is NOT supported (shift ρ≈−0.1)</a:t>
            </a:r>
          </a:p>
          <a:p>
            <a:pPr>
              <a:spcAft>
                <a:spcPts val="600"/>
              </a:spcAft>
              <a:defRPr sz="1800" b="1">
                <a:solidFill>
                  <a:srgbClr val="E76F51"/>
                </a:solidFill>
              </a:defRPr>
            </a:pPr>
            <a:r>
              <a:t>• Bulk lipophilicity / size (clogP, Rg, polarizability) tracks POTENCY, not tolerance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the Phase-7 hydrophobic-SASA 'hit' was a potency artifact (partial ρ=0.02)</a:t>
            </a:r>
          </a:p>
          <a:p>
            <a:pPr>
              <a:spcAft>
                <a:spcPts val="600"/>
              </a:spcAft>
              <a:defRPr sz="1800" b="1">
                <a:solidFill>
                  <a:srgbClr val="E76F51"/>
                </a:solidFill>
              </a:defRPr>
            </a:pPr>
            <a:r>
              <a:t>• Explicit HSA drug-site docking carries NO signal (and can't be trusted to exclude the mechanism)</a:t>
            </a:r>
          </a:p>
          <a:p>
            <a:pPr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• Proxy (MMFF) ensembles OVERSTATE effects — trust QM-ensemble numbers only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Design output — 3 finalists through the full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12 novel candidates built (Phase 5); top 3 by multi-objective score taken to GFN2 + DFT-ready:</a:t>
            </a:r>
          </a:p>
          <a:p>
            <a:pPr lvl="1">
              <a:spcAft>
                <a:spcPts val="600"/>
              </a:spcAft>
              <a:defRPr sz="1600" b="1">
                <a:solidFill>
                  <a:srgbClr val="1F3A5F"/>
                </a:solidFill>
              </a:defRPr>
            </a:pPr>
            <a:r>
              <a:t>   – cand01 quinolinecarbonyl · cand02 naphthoyl-6-OH · cand03 pyridylphenyl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all extended rigid aromatics; GFN2-reranked ensembles; Gaussian DFT inputs prepared</a:t>
            </a:r>
          </a:p>
          <a:p>
            <a:pPr>
              <a:spcAft>
                <a:spcPts val="600"/>
              </a:spcAft>
              <a:defRPr sz="1800" b="1">
                <a:solidFill>
                  <a:srgbClr val="2A9D8F"/>
                </a:solidFill>
              </a:defRPr>
            </a:pPr>
            <a:r>
              <a:t>• Post-Phase-8/9 the ranking is unchanged but the RATIONALE shifts: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favour added polar / H-bonding surface on the C-6′ group, not aromatic bulk alone</a:t>
            </a:r>
          </a:p>
          <a:p>
            <a:pPr>
              <a:spcAft>
                <a:spcPts val="600"/>
              </a:spcAft>
              <a:defRPr sz="1800" b="0">
                <a:solidFill>
                  <a:srgbClr val="555B66"/>
                </a:solidFill>
              </a:defRPr>
            </a:pPr>
            <a:r>
              <a:t>• All inputs are cluster-ready (CREST, GFN2 rerank, Gaussian) and committed to the repo</a:t>
            </a:r>
          </a:p>
          <a:p>
            <a:pPr>
              <a:spcAft>
                <a:spcPts val="600"/>
              </a:spcAft>
              <a:defRPr sz="1800" b="1">
                <a:solidFill>
                  <a:srgbClr val="E76F51"/>
                </a:solidFill>
              </a:defRPr>
            </a:pPr>
            <a:r>
              <a:t>• Caveat: a hypothesis to test prospectively, not a validated predictor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860B"/>
                </a:solidFill>
              </a:defRPr>
            </a:pPr>
            <a:r>
              <a:t>Guidance for subsequent research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• Model the serum SHIFT (or covary out serum-free MIC) — never raw serum MIC</a:t>
            </a:r>
          </a:p>
          <a:p>
            <a:pPr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• Treat fast (MMFF/2D) results as SCREENS; confirm any lead with QM ensembles before believing it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Refine conformer populations (GFN2) before any expensive DFT/docking on top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For bRo5 glycolipids, drop 2D drug-likeness metrics — they're saturated; use 3D/QM</a:t>
            </a:r>
          </a:p>
          <a:p>
            <a:pPr>
              <a:spcAft>
                <a:spcPts val="600"/>
              </a:spcAft>
              <a:defRPr sz="1800" b="1">
                <a:solidFill>
                  <a:srgbClr val="2A9D8F"/>
                </a:solidFill>
              </a:defRPr>
            </a:pPr>
            <a:r>
              <a:t>• Report partial correlations against potency by default — it is the dominant confound here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Keep negative results first-class — they redirected the project twice and saved compute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860B"/>
                </a:solidFill>
              </a:defRPr>
            </a:pPr>
            <a:r>
              <a:t>Guidance — the next decisive steps are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A9D8F"/>
                </a:solidFill>
              </a:defRPr>
            </a:pPr>
            <a:r>
              <a:t>• 1. ACQUIRE DATA — the single biggest lever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   – more analogs with UNCENSORED serum MICs; ideally a second chemotype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   – powers the polar-surface lead to significance (or kills it) — current n=24/11-censored caps everything</a:t>
            </a:r>
          </a:p>
          <a:p>
            <a:pPr>
              <a:spcAft>
                <a:spcPts val="600"/>
              </a:spcAft>
              <a:defRPr sz="1700" b="1">
                <a:solidFill>
                  <a:srgbClr val="2A9D8F"/>
                </a:solidFill>
              </a:defRPr>
            </a:pPr>
            <a:r>
              <a:t>• 2. MEASURE the mechanism directly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   – HSA-binding assay (equilibrium dialysis / fluorescence-probe displacement at Sudlow I &amp; II)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   – include fatty-acid sites — the lipid tails may bind there, not the drug sites docking modeled</a:t>
            </a:r>
          </a:p>
          <a:p>
            <a:pPr>
              <a:spcAft>
                <a:spcPts val="600"/>
              </a:spcAft>
              <a:defRPr sz="1700" b="1">
                <a:solidFill>
                  <a:srgbClr val="2A9D8F"/>
                </a:solidFill>
              </a:defRPr>
            </a:pPr>
            <a:r>
              <a:t>• 3. Targeted synthesis to test the lead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   – matched pairs differing only in polar vs hydrophobic C-6′ surface, equipotent serum-free</a:t>
            </a:r>
          </a:p>
          <a:p>
            <a:pPr>
              <a:spcAft>
                <a:spcPts val="600"/>
              </a:spcAft>
              <a:defRPr sz="1700" b="0">
                <a:solidFill>
                  <a:srgbClr val="555B66"/>
                </a:solidFill>
              </a:defRPr>
            </a:pPr>
            <a:r>
              <a:t>• 4. If in silico: model FA sites / other carriers (AAG, lipoproteins); run the prepared finalist DFT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Reproducibility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All code, inputs, and outputs committed to the repository (main)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phase5_generate.py · phase6_qm_layer.py · phase7–10 scripts · gen_*/make_* utilities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CREST/GFN2/DFT/xtb/docking inputs are cluster-ready and version-controlled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</a:defRPr>
            </a:pPr>
            <a:r>
              <a:t>• Per-phase write-ups: phase7–10_findings.md; master narrative: SYNTHESIS_phases1-10.md</a:t>
            </a:r>
          </a:p>
          <a:p>
            <a:pPr>
              <a:spcAft>
                <a:spcPts val="600"/>
              </a:spcAft>
              <a:defRPr sz="1800" b="1">
                <a:solidFill>
                  <a:srgbClr val="2A9D8F"/>
                </a:solidFill>
              </a:defRPr>
            </a:pPr>
            <a:r>
              <a:t>• This deck: Papulacandin_serum_gap_synthesis_FULL.pptx (with full speaker notes)</a:t>
            </a:r>
          </a:p>
          <a:p>
            <a:pPr>
              <a:spcAft>
                <a:spcPts val="600"/>
              </a:spcAft>
              <a:defRPr sz="1800" b="1">
                <a:solidFill>
                  <a:srgbClr val="2A9D8F"/>
                </a:solidFill>
              </a:defRPr>
            </a:pPr>
            <a:r>
              <a:t>• Companion asset pack: Papulacandin_deck_assets.zip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   – 18 figures + 21 tables (CSV + rendered PNG) + 8 reports + INDEX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Computation mapped the serum gap — and its limits</a:t>
            </a:r>
          </a:p>
          <a:p>
            <a:pPr>
              <a:defRPr sz="1900">
                <a:solidFill>
                  <a:srgbClr val="2A9D8F"/>
                </a:solidFill>
              </a:defRPr>
            </a:pPr>
            <a:r>
              <a:t>Potency is size/lipophilicity; tolerance weakly favours polar surface; the lever is now experimental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C8D2DC"/>
                </a:solidFill>
              </a:defRPr>
            </a:pPr>
            <a:r>
              <a:t>Thank you — full report: outputs/SYNTHESIS_phases1-10.md  ·  assets: Papulacandin_deck_assets.zip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