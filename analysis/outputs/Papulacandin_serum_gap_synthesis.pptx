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Why do some papulacandins survive serum?</a:t>
            </a:r>
          </a:p>
          <a:p>
            <a:pPr>
              <a:defRPr sz="2000">
                <a:solidFill>
                  <a:srgbClr val="2A9D8F"/>
                </a:solidFill>
              </a:defRPr>
            </a:pPr>
            <a:r>
              <a:t>A 10-phase computational dissection of the FKS1-inhibitor serum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C8D2DC"/>
                </a:solidFill>
              </a:defRPr>
            </a:pPr>
            <a:r>
              <a:t>Papulacandin / fusacandin serum-gap study  ·  Phases 1–10  ·  generated from SYNTHESIS_phases1-10.md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A9D8F"/>
                </a:solidFill>
              </a:defRPr>
            </a:pPr>
            <a:r>
              <a:t>Bottom line up front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F3A5F"/>
                </a:solidFill>
              </a:defRPr>
            </a:pPr>
            <a:r>
              <a:t>• Serum POTENCY is governed by intrinsic potency × molecular size / lipophilicity</a:t>
            </a:r>
          </a:p>
          <a:p>
            <a:pPr>
              <a:spcAft>
                <a:spcPts val="700"/>
              </a:spcAft>
              <a:defRPr sz="2000" b="1">
                <a:solidFill>
                  <a:srgbClr val="1F3A5F"/>
                </a:solidFill>
              </a:defRPr>
            </a:pPr>
            <a:r>
              <a:t>• Serum TOLERANCE (the free→serum MIC shift) has, at most, a weak association with</a:t>
            </a:r>
          </a:p>
          <a:p>
            <a:pPr lvl="1">
              <a:spcAft>
                <a:spcPts val="700"/>
              </a:spcAft>
              <a:defRPr sz="1800" b="1">
                <a:solidFill>
                  <a:srgbClr val="2A9D8F"/>
                </a:solidFill>
              </a:defRPr>
            </a:pPr>
            <a:r>
              <a:t>   – exposing POLAR rather than HYDROPHOBIC surface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|ρ| ≈ 0.30–0.33, p ≈ 0.13 — consistent across independent methods, never significant</a:t>
            </a:r>
          </a:p>
          <a:p>
            <a:pPr>
              <a:spcAft>
                <a:spcPts val="700"/>
              </a:spcAft>
              <a:defRPr sz="2000" b="1">
                <a:solidFill>
                  <a:srgbClr val="E76F51"/>
                </a:solidFill>
              </a:defRPr>
            </a:pPr>
            <a:r>
              <a:t>• No computable descriptor or docking model predicts serum tolerance on this dataset</a:t>
            </a:r>
          </a:p>
          <a:p>
            <a:pPr>
              <a:spcAft>
                <a:spcPts val="700"/>
              </a:spcAft>
              <a:defRPr sz="2000" b="1">
                <a:solidFill>
                  <a:srgbClr val="1F3A5F"/>
                </a:solidFill>
              </a:defRPr>
            </a:pPr>
            <a:r>
              <a:t>• The binding constraint is the DATA (n=24, 11/24 censored), not the methods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The dataset — the dependent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24 compounds with matched serum-free AND serum whole-cell MIC vs C. albicans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Yeung-1996 fusacandin analogs 6a–6u + Fusacandin A/B + Papulacandin B</a:t>
            </a:r>
          </a:p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13/24 retain measurable serum activity; 11/24 serum MICs CENSORED at 100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E76F51"/>
                </a:solidFill>
              </a:defRPr>
            </a:pPr>
            <a:r>
              <a:t>   – values tied on {12.5, 25, 50, 100} → this is the ceiling on every correlation</a:t>
            </a:r>
          </a:p>
          <a:p>
            <a:pPr>
              <a:spcAft>
                <a:spcPts val="700"/>
              </a:spcAft>
              <a:defRPr sz="2000" b="1">
                <a:solidFill>
                  <a:srgbClr val="1F3A5F"/>
                </a:solidFill>
              </a:defRPr>
            </a:pPr>
            <a:r>
              <a:t>• Two endpoints used throughout: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raw serum MIC — but it is ~potency-dominated (ρ=0.79 with serum-free MIC)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2A9D8F"/>
                </a:solidFill>
              </a:defRPr>
            </a:pPr>
            <a:r>
              <a:t>   – serum SHIFT fold (serum/free) — the potency-independent measure of true tolerance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Approach — a multi-tier descriptor funnel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Phases 1–4 : curate serum-gap table + interpretable 2D design-rule score</a:t>
            </a:r>
          </a:p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Phase 5     : scaffold-constrained generative design → 12 novel candidates</a:t>
            </a:r>
          </a:p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Phase 6     : QM funnel — CREST ensembles, in-house SASA, Gaussian DFT I/O</a:t>
            </a:r>
          </a:p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Phases 7–8 : 3D shape retrospective (MMFF proxy → real CREST) + confound test</a:t>
            </a:r>
          </a:p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Phase 9     : GFN2-xTB electronic / solvation descriptors</a:t>
            </a:r>
          </a:p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Phase 10   : explicit human serum albumin docking</a:t>
            </a:r>
          </a:p>
          <a:p>
            <a:pPr>
              <a:spcAft>
                <a:spcPts val="700"/>
              </a:spcAft>
              <a:defRPr sz="2000" b="1">
                <a:solidFill>
                  <a:srgbClr val="1F3A5F"/>
                </a:solidFill>
              </a:defRPr>
            </a:pPr>
            <a:r>
              <a:t>• Each tier asks: does THIS descriptor family predict the serum shift?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Phases 1–5 — 2D fails, and the chemotype is bRo5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Best 2D predictor (rigid-aromatic + polar design score) vs serum MIC:</a:t>
            </a:r>
          </a:p>
          <a:p>
            <a:pPr lvl="1">
              <a:spcAft>
                <a:spcPts val="700"/>
              </a:spcAft>
              <a:defRPr sz="1800" b="1">
                <a:solidFill>
                  <a:srgbClr val="E76F51"/>
                </a:solidFill>
              </a:defRPr>
            </a:pPr>
            <a:r>
              <a:t>   – Spearman ρ = 0.32, not significant</a:t>
            </a:r>
          </a:p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Generative design cleaves/re-esterifies the C-6′ aromatic ester → 12 novel analogs</a:t>
            </a:r>
          </a:p>
          <a:p>
            <a:pPr>
              <a:spcAft>
                <a:spcPts val="700"/>
              </a:spcAft>
              <a:defRPr sz="2000" b="1">
                <a:solidFill>
                  <a:srgbClr val="1F3A5F"/>
                </a:solidFill>
              </a:defRPr>
            </a:pPr>
            <a:r>
              <a:t>• Whole chemotype is beyond-Rule-of-5: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QED ≈ 0.01–0.03, 0/30 pass Lipinski → 2D drug-likeness is uninformative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2A9D8F"/>
                </a:solidFill>
              </a:defRPr>
            </a:pPr>
            <a:r>
              <a:t>   – → motivated the 3D / QM approach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A9D8F"/>
                </a:solidFill>
              </a:defRPr>
            </a:pPr>
            <a:r>
              <a:t>Phase 7 — a promising 3D lead (MMFF proxy)</a:t>
            </a:r>
          </a:p>
        </p:txBody>
      </p:sp>
      <p:pic>
        <p:nvPicPr>
          <p:cNvPr id="4" name="Picture 3" descr="phase7_retrospective_q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28296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6304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Fast RDKit-MMFF ensembles on the 24 knowns</a:t>
            </a:r>
          </a:p>
          <a:p>
            <a:pPr>
              <a:spcAft>
                <a:spcPts val="800"/>
              </a:spcAft>
              <a:defRPr sz="1600" b="1">
                <a:solidFill>
                  <a:srgbClr val="1F3A5F"/>
                </a:solidFill>
              </a:defRPr>
            </a:pPr>
            <a:r>
              <a:t>• Hydrophobic SASA vs serum MIC:</a:t>
            </a:r>
          </a:p>
          <a:p>
            <a:pPr lvl="1">
              <a:spcAft>
                <a:spcPts val="800"/>
              </a:spcAft>
              <a:defRPr sz="1500" b="1">
                <a:solidFill>
                  <a:srgbClr val="2A9D8F"/>
                </a:solidFill>
              </a:defRPr>
            </a:pPr>
            <a:r>
              <a:t>   – ρ = −0.45 (p = 0.029) — beats 2D</a:t>
            </a:r>
          </a:p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Promising enough to justify real CREST</a:t>
            </a:r>
          </a:p>
          <a:p>
            <a:pPr>
              <a:spcAft>
                <a:spcPts val="800"/>
              </a:spcAft>
              <a:defRPr sz="1600" b="0">
                <a:solidFill>
                  <a:srgbClr val="555B66"/>
                </a:solidFill>
              </a:defRPr>
            </a:pPr>
            <a:r>
              <a:t>• Caveat: proxy ensembles, to be confirmed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Phase 8 — real CREST overturns it: a potency artifact</a:t>
            </a:r>
          </a:p>
        </p:txBody>
      </p:sp>
      <p:pic>
        <p:nvPicPr>
          <p:cNvPr id="4" name="Picture 3" descr="phase8_retrospective_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27654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6304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Real CREST/GFN-FF: signal shrinks to ρ=−0.31 (p=0.14)</a:t>
            </a:r>
          </a:p>
          <a:p>
            <a:pPr>
              <a:spcAft>
                <a:spcPts val="800"/>
              </a:spcAft>
              <a:defRPr sz="1600" b="1">
                <a:solidFill>
                  <a:srgbClr val="1F3A5F"/>
                </a:solidFill>
              </a:defRPr>
            </a:pPr>
            <a:r>
              <a:t>• Decisive confound check: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B66"/>
                </a:solidFill>
              </a:defRPr>
            </a:pPr>
            <a:r>
              <a:t>   – serum-free MIC alone → serum MIC ρ=0.79</a:t>
            </a:r>
          </a:p>
          <a:p>
            <a:pPr lvl="1">
              <a:spcAft>
                <a:spcPts val="800"/>
              </a:spcAft>
              <a:defRPr sz="1500" b="1">
                <a:solidFill>
                  <a:srgbClr val="E76F51"/>
                </a:solidFill>
              </a:defRPr>
            </a:pPr>
            <a:r>
              <a:t>   – control potency → hydrophobic SASA ρ=0.02</a:t>
            </a:r>
          </a:p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Rigidity hypothesis dies (shift ρ≈−0.1)</a:t>
            </a:r>
          </a:p>
          <a:p>
            <a:pPr>
              <a:spcAft>
                <a:spcPts val="800"/>
              </a:spcAft>
              <a:defRPr sz="1600" b="1">
                <a:solidFill>
                  <a:srgbClr val="2A9D8F"/>
                </a:solidFill>
              </a:defRPr>
            </a:pPr>
            <a:r>
              <a:t>• Only coherent lead: polar SASA vs shift ρ=−0.33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2A9D8F"/>
                </a:solidFill>
              </a:defRPr>
            </a:pPr>
            <a:r>
              <a:t>Phase 9 — electronics converge on the polar-surface lead</a:t>
            </a:r>
          </a:p>
        </p:txBody>
      </p:sp>
      <p:pic>
        <p:nvPicPr>
          <p:cNvPr id="4" name="Picture 3" descr="phase9_electron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766560" cy="41351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6304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GFN2-xTB: dipole, gap, polarizability, QM logP</a:t>
            </a:r>
          </a:p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Polarizability ρ=−0.54 (p=0.01) — but a SIZE proxy</a:t>
            </a:r>
          </a:p>
          <a:p>
            <a:pPr lvl="1">
              <a:spcAft>
                <a:spcPts val="800"/>
              </a:spcAft>
              <a:defRPr sz="1500" b="0">
                <a:solidFill>
                  <a:srgbClr val="555B66"/>
                </a:solidFill>
              </a:defRPr>
            </a:pPr>
            <a:r>
              <a:t>   – shift ρ=−0.02; tracks Rg, potency</a:t>
            </a:r>
          </a:p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QM logP ↔ hydrophobic SASA (ρ=+0.76);</a:t>
            </a:r>
          </a:p>
          <a:p>
            <a:pPr lvl="1">
              <a:spcAft>
                <a:spcPts val="800"/>
              </a:spcAft>
              <a:defRPr sz="1500" b="1">
                <a:solidFill>
                  <a:srgbClr val="2A9D8F"/>
                </a:solidFill>
              </a:defRPr>
            </a:pPr>
            <a:r>
              <a:t>   – shift ρ=+0.30 — corroborates polar-surface lead</a:t>
            </a:r>
          </a:p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Two descriptor families converge; neither significant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E76F51"/>
                </a:solidFill>
              </a:defRPr>
            </a:pPr>
            <a:r>
              <a:t>Phase 10 — explicit HSA docking is null</a:t>
            </a:r>
          </a:p>
        </p:txBody>
      </p:sp>
      <p:pic>
        <p:nvPicPr>
          <p:cNvPr id="4" name="Picture 3" descr="phase10_h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665524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498079" y="1463040"/>
            <a:ext cx="4297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Rigid ensemble surface docking (flexible = intractable at ~38 torsions)</a:t>
            </a:r>
          </a:p>
          <a:p>
            <a:pPr>
              <a:spcAft>
                <a:spcPts val="800"/>
              </a:spcAft>
              <a:defRPr sz="1600" b="1">
                <a:solidFill>
                  <a:srgbClr val="1F3A5F"/>
                </a:solidFill>
              </a:defRPr>
            </a:pPr>
            <a:r>
              <a:t>• HSA binding vs serum shift:</a:t>
            </a:r>
          </a:p>
          <a:p>
            <a:pPr lvl="1">
              <a:spcAft>
                <a:spcPts val="800"/>
              </a:spcAft>
              <a:defRPr sz="1500" b="1">
                <a:solidFill>
                  <a:srgbClr val="E76F51"/>
                </a:solidFill>
              </a:defRPr>
            </a:pPr>
            <a:r>
              <a:t>   – ρ = +0.22 (p=0.30) — sign OPPOSITE to sequestration</a:t>
            </a:r>
          </a:p>
          <a:p>
            <a:pPr>
              <a:spcAft>
                <a:spcPts val="800"/>
              </a:spcAft>
              <a:defRPr sz="1600" b="0">
                <a:solidFill>
                  <a:srgbClr val="1F3A5F"/>
                </a:solidFill>
              </a:defRPr>
            </a:pPr>
            <a:r>
              <a:t>• Flat under potency- and size-controls</a:t>
            </a:r>
          </a:p>
          <a:p>
            <a:pPr>
              <a:spcAft>
                <a:spcPts val="800"/>
              </a:spcAft>
              <a:defRPr sz="1600" b="0">
                <a:solidFill>
                  <a:srgbClr val="555B66"/>
                </a:solidFill>
              </a:defRPr>
            </a:pPr>
            <a:r>
              <a:t>• Not a size proxy (ρ=−0.15 vs polarizability)</a:t>
            </a:r>
          </a:p>
          <a:p>
            <a:pPr>
              <a:spcAft>
                <a:spcPts val="800"/>
              </a:spcAft>
              <a:defRPr sz="1600" b="0">
                <a:solidFill>
                  <a:srgbClr val="555B66"/>
                </a:solidFill>
              </a:defRPr>
            </a:pPr>
            <a:r>
              <a:t>• Caveat: Vina unfit for 1200 Da amphiphiles → cannot EXCLUDE sequestration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2A9D8F"/>
                </a:solidFill>
              </a:defRPr>
            </a:pPr>
            <a:r>
              <a:t>The one convergent, defensible finding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1F3A5F"/>
                </a:solidFill>
              </a:defRPr>
            </a:pPr>
            <a:r>
              <a:t>• Three independent families agree on a single qualitative rule: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3D shape (polar SASA), QM solvation (logP), weakly the dipole</a:t>
            </a:r>
          </a:p>
          <a:p>
            <a:pPr>
              <a:spcAft>
                <a:spcPts val="700"/>
              </a:spcAft>
              <a:defRPr sz="2000" b="1">
                <a:solidFill>
                  <a:srgbClr val="2A9D8F"/>
                </a:solidFill>
              </a:defRPr>
            </a:pPr>
            <a:r>
              <a:t>• “Among equipotent analogs, bias the exposed surface toward POLAR / H-bonding</a:t>
            </a:r>
          </a:p>
          <a:p>
            <a:pPr>
              <a:spcAft>
                <a:spcPts val="700"/>
              </a:spcAft>
              <a:defRPr sz="2000" b="1">
                <a:solidFill>
                  <a:srgbClr val="2A9D8F"/>
                </a:solidFill>
              </a:defRPr>
            </a:pPr>
            <a:r>
              <a:t>•   character to reduce serum loss.”  |ρ| ≈ 0.30–0.33, p ≈ 0.13 — directional, not proven</a:t>
            </a:r>
          </a:p>
          <a:p>
            <a:pPr>
              <a:spcAft>
                <a:spcPts val="700"/>
              </a:spcAft>
              <a:defRPr sz="2000" b="1">
                <a:solidFill>
                  <a:srgbClr val="E76F51"/>
                </a:solidFill>
              </a:defRPr>
            </a:pPr>
            <a:r>
              <a:t>• Rigorously established NEGATIVES: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raw serum MIC is potency-dominated (ρ=0.79) — model the shift instead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the rigidity hypothesis is not supported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size / lipophilicity (clogP, Rg, polarizability) tracks potency, not tolerance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explicit HSA drug-site docking carries no signal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Design output (carried forward, with caveats)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0">
                <a:solidFill>
                  <a:srgbClr val="1F3A5F"/>
                </a:solidFill>
              </a:defRPr>
            </a:pPr>
            <a:r>
              <a:t>• 12 novel candidates taken through the full funnel; 3 finalists by multi-objective score:</a:t>
            </a:r>
          </a:p>
          <a:p>
            <a:pPr lvl="1">
              <a:spcAft>
                <a:spcPts val="700"/>
              </a:spcAft>
              <a:defRPr sz="1800" b="1">
                <a:solidFill>
                  <a:srgbClr val="1F3A5F"/>
                </a:solidFill>
              </a:defRPr>
            </a:pPr>
            <a:r>
              <a:t>   – cand01 quinolinecarbonyl · cand02 naphthoyl-6-OH · cand03 pyridylphenyl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GFN2-reranked ensembles + ready Gaussian DFT inputs</a:t>
            </a:r>
          </a:p>
          <a:p>
            <a:pPr>
              <a:spcAft>
                <a:spcPts val="700"/>
              </a:spcAft>
              <a:defRPr sz="2000" b="1">
                <a:solidFill>
                  <a:srgbClr val="1F3A5F"/>
                </a:solidFill>
              </a:defRPr>
            </a:pPr>
            <a:r>
              <a:t>• Ranking unchanged, but the RATIONALE shifts after Phases 8–10: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2A9D8F"/>
                </a:solidFill>
              </a:defRPr>
            </a:pPr>
            <a:r>
              <a:t>   – prefer added polar / H-bonding surface on the variable C-6′ group,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not just rigid aromatic bulk — a hypothesis to test, not a validated predictor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92608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3A5F"/>
                </a:solidFill>
              </a:defRPr>
            </a:pPr>
            <a:r>
              <a:t>Limitations → next steps are EXPERIMENTAL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088136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2000" b="1">
                <a:solidFill>
                  <a:srgbClr val="E76F51"/>
                </a:solidFill>
              </a:defRPr>
            </a:pPr>
            <a:r>
              <a:t>• Limitations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n=24, 11 censored, single chemotype/lab — caps achievable significance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MMFF proxy OVERSTATED effects (−0.45→−0.31) — trust QM-ensemble numbers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Vina unsuited to 1000–1200 Da amphiphiles — Phase-10 null can't exclude sequestration</a:t>
            </a:r>
          </a:p>
          <a:p>
            <a:pPr>
              <a:spcAft>
                <a:spcPts val="700"/>
              </a:spcAft>
              <a:defRPr sz="2000" b="1">
                <a:solidFill>
                  <a:srgbClr val="2A9D8F"/>
                </a:solidFill>
              </a:defRPr>
            </a:pPr>
            <a:r>
              <a:t>• Recommended next steps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1. Acquire UNCENSORED serum MICs on more analogs / a fresh chemotype (biggest lever)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2. Direct HSA-binding assay (equilibrium dialysis / fluorescence displacement)</a:t>
            </a:r>
          </a:p>
          <a:p>
            <a:pPr lvl="1">
              <a:spcAft>
                <a:spcPts val="700"/>
              </a:spcAft>
              <a:defRPr sz="1800" b="0">
                <a:solidFill>
                  <a:srgbClr val="555B66"/>
                </a:solidFill>
              </a:defRPr>
            </a:pPr>
            <a:r>
              <a:t>   – 3. If in silico: model fatty-acid sites &amp; other carriers; run finalist DFT (exploratory)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1168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A clean, fully-documented stopping point</a:t>
            </a:r>
          </a:p>
          <a:p>
            <a:pPr>
              <a:defRPr sz="2000">
                <a:solidFill>
                  <a:srgbClr val="2A9D8F"/>
                </a:solidFill>
              </a:defRPr>
            </a:pPr>
            <a:r>
              <a:t>Computation mapped the serum gap and its limits; the lever is now experimental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i="1">
                <a:solidFill>
                  <a:srgbClr val="C8D2DC"/>
                </a:solidFill>
              </a:defRPr>
            </a:pPr>
            <a:r>
              <a:t>Per-phase write-ups: outputs/phase7–10_findings.md  ·  full report: outputs/SYNTHESIS_phases1-10.md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